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9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</p:sld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5611"/>
    <p:restoredTop sz="94610"/>
  </p:normalViewPr>
  <p:slideViewPr>
    <p:cSldViewPr snapToGrid="0" snapToObjects="1">
      <p:cViewPr varScale="1">
        <p:scale>
          <a:sx n="111" d="100"/>
          <a:sy n="111" d="100"/>
        </p:scale>
        <p:origin x="558" y="9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" Type="http://schemas.openxmlformats.org/officeDocument/2006/relationships/slide" Target="slides/slide2.xml"/><Relationship Id="rId21" Type="http://schemas.openxmlformats.org/officeDocument/2006/relationships/viewProps" Target="viewProp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presProps" Target="pres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tableStyles" Target="tableStyles.xml"/><Relationship Id="rId10" Type="http://schemas.openxmlformats.org/officeDocument/2006/relationships/slide" Target="slides/slide9.xml"/><Relationship Id="rId19" Type="http://schemas.openxmlformats.org/officeDocument/2006/relationships/notesMaster" Target="notesMasters/notesMaster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theme" Target="theme/theme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51800534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Pozdrav. Mi smo tročlani tim i predstavljamo sistem za podršku odlučivanju sudijama, u oblasti krivičnih dela protiv životne sredine — članovi 260 do 277 Krivičnog zakonika. Sistem ima bazu znanja od zakona i sudske prakse i nad unetim činjenicama radi rasuđivanje, predlaže prekršene norme i kaznu i generiše nacrt presude. Izlaganje delimo na tri dela po pet minuta: ja pokrivam zakon, norme i rasuđivanje po pravilima; drugi kolega odluke, NLP i poređenje slučajeva; treći prikaz, kombinovano odlučivanje i generisanje.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Ovako delimo posao. U jezgru: baza znanja od jednog zakona i 46 odluka, 10+ pravila u LegalRuleML, NLP ekstrakcija, dva tipa rasuđivanja i generisanje presude. Tri izlaganja: Član 1 — zakon, norme i pravila (celine 1, 3, 5); Član 2 — odluke, NLP i CBR (celine 2, 4, 6); Član 3 — prikaz, kombinovano odlučivanje i generisanje (celine 7, 8, 9). Svako po pet minuta.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Arhitektura prati tok podataka. Najpre se učitavaju zakon i 46 odluka iz Akoma Ntoso XML-a. NLP modul iz teksta vadi metapodatke i pravne činjenice. Zatim rasuđivanje — dva pristupa paralelno: po pravilima preko dr-device i po slučajevima preko CBR/kNN. Iz toga sistem predlaže prekršene članove i kaznu, a na kraju LLM generiše nacrt presude koji se opet anotira i čuva kao XML. Sve je jedan Spring Boot servis sa Thymeleaf prikazom; baza slučajeva je PostgreSQL. U nastavku ja prvo pokrivam levu stranu toka — zakon, norme i rasuđivanje po pravilima.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Prva celina je izbor zakona i njegovo mašinski-čitljivo predstavljanje. Uzeli smo Krivični zakonik, Glavu 24 — krivična dela protiv životne sredine. Ceo tekst je anotiran u Akoma Ntoso XML-u: klasifikacione jedinice glava, član, stav, reference ka članovima istog i drugih zakona, i entiteti poput datuma i organizacija. Anotirali smo svih 18 članova bez obzira da li ih sve koristimo u rasuđivanju, kako traži specifikacija. Desno je prikaz člana 260 — korisniku se prikazuje isključivo render, nikad sirovi XML.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Treća celina je izdvajanje pravnih normi i njihovo predstavljanje u LegalRuleML formatu — to je osnova za rasuđivanje po pravilima. Bitno je da skup činjenica u pravilima bude usklađen sa činjenicama iz odluka, da bismo nad istim pojmovima zaključivali. Logika je pobojiva, defeasible. Zadatak traži minimum 10 pravila bez negacija; prikazani su reprezentativni primeri za članove 260, 261, 266 i 273. Upravo ova pravila zatim izvršava dr-device, što je tema sledećeg slajda.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Peta celina je rasuđivanje po pravilima. Ulaz su pravne činjenice — iz forme ili iz ekstrakcije. Pravila iz LegalRuleML-a izvršava dr-device, koji radi sa pobojivom logikom. Rezultat su prekršeni članovi, svaki sa oznakom da je defeasibly dokazano da je prekršen, i predlog raspona kazne — ovde zatvor od 6 do 60 meseci. Sistem uzima u obzir olakšavajuće i otežavajuće okolnosti, na primer to što je učinilac otklonio štetu. Uz svaki član prikazujemo i tekst same odredbe, što je obrazloženje koje traži zadatak. Time zaokružujem deo o zakonu, normama i pravilima — reč predajem kolegi koji pokriva sudsku praksu, NLP i poređenje slučajeva.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Hvala. Moj deo su sudska praksa, NLP i poređenje slučajeva. Druga celina su sudske odluke u istom Akoma Ntoso formatu. Zadatak traži minimum 15 odluka iz iste oblasti — mi smo obradili 46. Za svaku su anotirani broj predmeta, sud, datum, pomenuti članovi i reference. Pokriveni su Prekršajni apelacioni, Apelacioni, Vrhovni i Vrhovni kasacioni sud. Reference iz odluka ka članovima zakona povezuju sudsku praksu sa normama. Sve odluke se učitavaju i pregledaju unutar aplikacije.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Četvrta celina je NLP. Korisnik može da unese slobodan tekstualni opis slučaja, a klikom na „Popuni automatski iz teksta“ pokreće se NLP modul koji iz opisa izvuče pravne činjenice. Levo je prazna forma, desno ista forma posle ekstrakcije — vidite poruku „Činjenice popunjene“ i da su dropdowni i checkboxovi automatski postavljeni: voda, veća mera, širi prostor, nehat, član 261 i član 266. Korišćene su tehnike obrade prirodnog jezika, mašinskog i dubokog učenja.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Kada se odluka učita ili kada generišemo novu, NLP iz teksta vadi dva sloja: metapodatke — broj predmeta, sud, datum, sudije, zapisničara, stranke — i pravne činjenice potrebne za rasuđivanje, kao što su cilj zagađenja, tip supstance, namera, količina u kubnim metrima. Vrednosti su tipizirane: enumeracije, brojevi, boolean. Ključno za zadatak: ekstrakcija je automatska, ali postoji dugme „Ažuriraj ekstrahovane podatke“ za ručnu korekciju ako model nešto promaši.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Šesta celina je baza slučajeva za rasuđivanje po slučajevima. Svaki slučaj predstavljen je ključnim činjenicama koje dobijamo ekstrakcijom. Zadatak traži minimum sedam, mi koristimo trinaest: prekršeni član, vrstu i dužinu kazne, tip supstance, cilj zagađenja, štetu, nameru, količinu supstance i ostale. Slučajevi se čuvaju u PostgreSQL bazi. Izvor može biti korisnički unos ili postojeće odluke.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Da bismo poredili slučajeve, nad svakim atributom smo definisali lokalnu funkciju sličnosti: za enumeracije podudaranje, za brojeve poput količine u kubnim metrima razliku, za boolean jednakost. Lokalne sličnosti se agregiraju u globalnu, a kNN bira najbliže slučajeve. Na ekranu su rezultati sa procentima — 100, 75, 60 odsto — i ishodi tih predmeta, koji služe kao orijentir za kaznu. Pristup je u duhu alata jColibri. Ovim završavam svoj deo i predajem reč trećem kolegi.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Hvala. Moj deo su prikaz, kombinovano odlučivanje i generisanje presude. Sedma celina je prikaz i navigacija. Pošto smo reference anotirali u XML-u, one su u aplikaciji klikabilne. Kada korisnik klikne referencu — recimo „član 260 ovog zakonika“ — sistem otvori taj član i stavi ga u fokus. Na slici je član 261 osenčen jer smo do njega došli klikom iz drugog dela teksta. Isto radi i iz sudskih odluka ka članovima zakona. I ovde: korisniku se nikada ne prikazuje Akoma Ntoso, već formatiran tekst sa izdvojenim metapodacima.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Osma celina spaja sve nad korisničkim unosom. Korisnik unese opis novog slučaja; sistem paralelno radi rasuđivanje po pravilima (koje je predstavio prvi kolega) i po slučajevima (koje je predstavio drugi kolega) i prikazuje tri kolone — prekršeni članovi i predlog kazne, slični slučajevi sa procentima, i panel gde korisnik bira konačnu vrstu i dužinu kazne. Klikom na „Sačuvaj slučaj“ novi slučaj se upisuje u bazu — faza retain u CBR ciklusu — i koristi u narednim poređenjima. Dole je potvrda da je slučaj broj 12 sačuvan; baza tako raste.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Deveta, poslednja celina je generisanje presude. Kao ulaz uzimamo uneti opis slučaja i rezultate rasuđivanja, pa LLM generiše odluku po uzoru na postojeće odluke iz baze. Struktura prati pravi format: uvod, činjenično stanje, dispozitiv i obrazloženje. U dispozitivu je okrivljeni oglašen krivim po članu 261 stav 1 sa kaznom zatvora od 33 meseca, a obrazloženje poziva relevantne članove i sličan predmet radi ujednačenosti kaznene politike. Generisana odluka se ponovo anotira, čuva kao XML i prikazuje korisniku — čime se krug zatvara.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Da pokažemo da sve radi zajedno — ovo je log realnog pokretanja aplikacije. Redom: AkomaNtosoParser učitava odluke iz XML-a, NlpClient poziva ekstrakciju za presude i za opis slučaja, ReasoningService pokreće kombinovano rasuđivanje, DrDeviceReasoner radi nad činjenicama dok CaseReasoner radi kNN pretragu, CaseController upisuje slučaj u PostgreSQL, a DecisionGenerator generiše novu odluku i obrazloženje preko LLM-a. Sve je u paketu rs.ftn.pi i čini jedan povezan tok.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Da rezimiramo: realizovane su sve tri grupe i svih devet celina — od Akoma Ntoso zakona i 46 odluka, preko 10+ pravila u LegalRuleML, NLP ekstrakcije sa ručnim ažuriranjem, oba tipa rasuđivanja, baze slučajeva sa 13 činjenica, prikaza i navigacije, kombinovanog rasuđivanja sa čuvanjem, do generisanja presude. Brojevi premašuju tražene minimume: 46 umesto 15 odluka i 13 umesto 7 činjenica.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Time zaključujemo. Pokazali smo kompletan ciklus podrške odlučivanju u oblasti krivičnih dela protiv životne sredine — od mašinski-čitljive baze znanja, preko NLP ekstrakcije i dva komplementarna pristupa rasuđivanju, do generisanja nacrta presude. Hvala na pažnji, rado ćemo odgovoriti na pitanja.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4.png"/><Relationship Id="rId5" Type="http://schemas.openxmlformats.org/officeDocument/2006/relationships/image" Target="../media/image3.png"/><Relationship Id="rId4" Type="http://schemas.openxmlformats.org/officeDocument/2006/relationships/image" Target="../media/image2.png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7.png"/><Relationship Id="rId4" Type="http://schemas.openxmlformats.org/officeDocument/2006/relationships/image" Target="../media/image6.png"/></Relationships>
</file>

<file path=ppt/slides/_rels/slide3.xml.rels><?xml version="1.0" encoding="UTF-8" standalone="yes"?>
<Relationships xmlns="http://schemas.openxmlformats.org/package/2006/relationships"><Relationship Id="rId8" Type="http://schemas.openxmlformats.org/officeDocument/2006/relationships/image" Target="../media/image4.png"/><Relationship Id="rId3" Type="http://schemas.openxmlformats.org/officeDocument/2006/relationships/image" Target="../media/image8.png"/><Relationship Id="rId7" Type="http://schemas.openxmlformats.org/officeDocument/2006/relationships/image" Target="../media/image11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3.png"/><Relationship Id="rId5" Type="http://schemas.openxmlformats.org/officeDocument/2006/relationships/image" Target="../media/image10.png"/><Relationship Id="rId10" Type="http://schemas.openxmlformats.org/officeDocument/2006/relationships/image" Target="../media/image13.png"/><Relationship Id="rId4" Type="http://schemas.openxmlformats.org/officeDocument/2006/relationships/image" Target="../media/image9.png"/><Relationship Id="rId9" Type="http://schemas.openxmlformats.org/officeDocument/2006/relationships/image" Target="../media/image12.pn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15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16.pn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17.pn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0.png"/><Relationship Id="rId5" Type="http://schemas.openxmlformats.org/officeDocument/2006/relationships/image" Target="../media/image19.png"/><Relationship Id="rId4" Type="http://schemas.openxmlformats.org/officeDocument/2006/relationships/image" Target="../media/image18.pn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21.png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2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23.png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4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26.png"/><Relationship Id="rId4" Type="http://schemas.openxmlformats.org/officeDocument/2006/relationships/image" Target="../media/image25.png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7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28.png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9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31.png"/><Relationship Id="rId4" Type="http://schemas.openxmlformats.org/officeDocument/2006/relationships/image" Target="../media/image30.png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2.pn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33.png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4.png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35.png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6.png"/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37.png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4.png"/><Relationship Id="rId5" Type="http://schemas.openxmlformats.org/officeDocument/2006/relationships/image" Target="../media/image3.png"/><Relationship Id="rId4" Type="http://schemas.openxmlformats.org/officeDocument/2006/relationships/image" Target="../media/image2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4241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595360" y="-914400"/>
            <a:ext cx="4572000" cy="8229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52000" dirty="0">
                <a:solidFill>
                  <a:srgbClr val="1E2A24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§</a:t>
            </a:r>
            <a:endParaRPr lang="en-US" sz="52000" dirty="0"/>
          </a:p>
        </p:txBody>
      </p:sp>
      <p:sp>
        <p:nvSpPr>
          <p:cNvPr id="3" name="Shape 1"/>
          <p:cNvSpPr/>
          <p:nvPr/>
        </p:nvSpPr>
        <p:spPr>
          <a:xfrm>
            <a:off x="822960" y="868680"/>
            <a:ext cx="868680" cy="868680"/>
          </a:xfrm>
          <a:prstGeom prst="ellipse">
            <a:avLst/>
          </a:prstGeom>
          <a:solidFill>
            <a:srgbClr val="285238"/>
          </a:solidFill>
          <a:ln/>
        </p:spPr>
        <p:txBody>
          <a:bodyPr/>
          <a:lstStyle/>
          <a:p>
            <a:endParaRPr lang="en-US"/>
          </a:p>
        </p:txBody>
      </p:sp>
      <p:pic>
        <p:nvPicPr>
          <p:cNvPr id="4" name="Image 0" descr="ico/scale_w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60704" y="1106424"/>
            <a:ext cx="393192" cy="393192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868680" y="196596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kern="0" spc="300" dirty="0">
                <a:solidFill>
                  <a:srgbClr val="C8A2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PRAVNA INFORMATIKA · 2025/2026</a:t>
            </a:r>
            <a:endParaRPr lang="en-US" sz="1500" dirty="0"/>
          </a:p>
        </p:txBody>
      </p:sp>
      <p:sp>
        <p:nvSpPr>
          <p:cNvPr id="6" name="Text 3"/>
          <p:cNvSpPr/>
          <p:nvPr/>
        </p:nvSpPr>
        <p:spPr>
          <a:xfrm>
            <a:off x="841248" y="2331720"/>
            <a:ext cx="1060704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02000"/>
              </a:lnSpc>
              <a:buNone/>
            </a:pPr>
            <a:r>
              <a:rPr lang="en-US" sz="4600" b="1" dirty="0">
                <a:solidFill>
                  <a:srgbClr val="FFFFFF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Sistem za podršku odlučivanju</a:t>
            </a:r>
            <a:endParaRPr lang="en-US" sz="4600" dirty="0"/>
          </a:p>
          <a:p>
            <a:pPr marL="0" indent="0">
              <a:lnSpc>
                <a:spcPct val="102000"/>
              </a:lnSpc>
              <a:buNone/>
            </a:pPr>
            <a:r>
              <a:rPr lang="en-US" sz="4600" b="1" dirty="0">
                <a:solidFill>
                  <a:srgbClr val="FFFFFF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u krivičnim predmetima</a:t>
            </a:r>
            <a:endParaRPr lang="en-US" sz="4600" dirty="0"/>
          </a:p>
        </p:txBody>
      </p:sp>
      <p:sp>
        <p:nvSpPr>
          <p:cNvPr id="7" name="Text 4"/>
          <p:cNvSpPr/>
          <p:nvPr/>
        </p:nvSpPr>
        <p:spPr>
          <a:xfrm>
            <a:off x="868680" y="4114800"/>
            <a:ext cx="10058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dirty="0">
                <a:solidFill>
                  <a:srgbClr val="CFE0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Krivična dela protiv životne sredine  </a:t>
            </a:r>
            <a:r>
              <a:rPr lang="en-US" sz="1800" b="1" dirty="0">
                <a:solidFill>
                  <a:srgbClr val="C8A2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 KZ čl. 260–277</a:t>
            </a:r>
            <a:endParaRPr lang="en-US" sz="1800" dirty="0"/>
          </a:p>
        </p:txBody>
      </p:sp>
      <p:sp>
        <p:nvSpPr>
          <p:cNvPr id="8" name="Shape 5"/>
          <p:cNvSpPr/>
          <p:nvPr/>
        </p:nvSpPr>
        <p:spPr>
          <a:xfrm>
            <a:off x="868680" y="5074920"/>
            <a:ext cx="3456432" cy="1234440"/>
          </a:xfrm>
          <a:prstGeom prst="roundRect">
            <a:avLst>
              <a:gd name="adj" fmla="val 7407"/>
            </a:avLst>
          </a:prstGeom>
          <a:solidFill>
            <a:srgbClr val="1E2A24"/>
          </a:solidFill>
          <a:ln w="12700">
            <a:solidFill>
              <a:srgbClr val="3A4A4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" name="Shape 6"/>
          <p:cNvSpPr/>
          <p:nvPr/>
        </p:nvSpPr>
        <p:spPr>
          <a:xfrm>
            <a:off x="1069848" y="5285232"/>
            <a:ext cx="457200" cy="457200"/>
          </a:xfrm>
          <a:prstGeom prst="ellipse">
            <a:avLst/>
          </a:prstGeom>
          <a:solidFill>
            <a:srgbClr val="285238"/>
          </a:solidFill>
          <a:ln/>
        </p:spPr>
        <p:txBody>
          <a:bodyPr/>
          <a:lstStyle/>
          <a:p>
            <a:endParaRPr lang="en-US"/>
          </a:p>
        </p:txBody>
      </p:sp>
      <p:pic>
        <p:nvPicPr>
          <p:cNvPr id="10" name="Image 1" descr="ico/scroll_w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179576" y="5394960"/>
            <a:ext cx="237744" cy="237744"/>
          </a:xfrm>
          <a:prstGeom prst="rect">
            <a:avLst/>
          </a:prstGeom>
        </p:spPr>
      </p:pic>
      <p:sp>
        <p:nvSpPr>
          <p:cNvPr id="11" name="Text 7"/>
          <p:cNvSpPr/>
          <p:nvPr/>
        </p:nvSpPr>
        <p:spPr>
          <a:xfrm>
            <a:off x="1645920" y="5248656"/>
            <a:ext cx="254203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Boris Leti</a:t>
            </a:r>
            <a:r>
              <a:rPr lang="sr-Latn-RS" sz="13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ć</a:t>
            </a:r>
            <a:r>
              <a:rPr lang="en-US" sz="13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· Norme i pravila</a:t>
            </a:r>
            <a:endParaRPr lang="en-US" sz="1350" dirty="0"/>
          </a:p>
        </p:txBody>
      </p:sp>
      <p:sp>
        <p:nvSpPr>
          <p:cNvPr id="12" name="Text 8"/>
          <p:cNvSpPr/>
          <p:nvPr/>
        </p:nvSpPr>
        <p:spPr>
          <a:xfrm>
            <a:off x="1645920" y="5541264"/>
            <a:ext cx="254203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30" dirty="0">
                <a:solidFill>
                  <a:srgbClr val="AEBBB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zakon · LegalRuleML · dr-device</a:t>
            </a:r>
            <a:endParaRPr lang="en-US" sz="1030" dirty="0"/>
          </a:p>
        </p:txBody>
      </p:sp>
      <p:sp>
        <p:nvSpPr>
          <p:cNvPr id="13" name="Shape 9"/>
          <p:cNvSpPr/>
          <p:nvPr/>
        </p:nvSpPr>
        <p:spPr>
          <a:xfrm>
            <a:off x="4489704" y="5074920"/>
            <a:ext cx="3456432" cy="1234440"/>
          </a:xfrm>
          <a:prstGeom prst="roundRect">
            <a:avLst>
              <a:gd name="adj" fmla="val 7407"/>
            </a:avLst>
          </a:prstGeom>
          <a:solidFill>
            <a:srgbClr val="1E2A24"/>
          </a:solidFill>
          <a:ln w="12700">
            <a:solidFill>
              <a:srgbClr val="3A4A4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4" name="Shape 10"/>
          <p:cNvSpPr/>
          <p:nvPr/>
        </p:nvSpPr>
        <p:spPr>
          <a:xfrm>
            <a:off x="4690872" y="5285232"/>
            <a:ext cx="457200" cy="457200"/>
          </a:xfrm>
          <a:prstGeom prst="ellipse">
            <a:avLst/>
          </a:prstGeom>
          <a:solidFill>
            <a:srgbClr val="285238"/>
          </a:solidFill>
          <a:ln/>
        </p:spPr>
        <p:txBody>
          <a:bodyPr/>
          <a:lstStyle/>
          <a:p>
            <a:endParaRPr lang="en-US"/>
          </a:p>
        </p:txBody>
      </p:sp>
      <p:pic>
        <p:nvPicPr>
          <p:cNvPr id="15" name="Image 2" descr="ico/brain_w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800600" y="5394960"/>
            <a:ext cx="237744" cy="237744"/>
          </a:xfrm>
          <a:prstGeom prst="rect">
            <a:avLst/>
          </a:prstGeom>
        </p:spPr>
      </p:pic>
      <p:sp>
        <p:nvSpPr>
          <p:cNvPr id="16" name="Text 11"/>
          <p:cNvSpPr/>
          <p:nvPr/>
        </p:nvSpPr>
        <p:spPr>
          <a:xfrm>
            <a:off x="5266944" y="5248656"/>
            <a:ext cx="254203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sr-Latn-RS" sz="13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Nikola Janković</a:t>
            </a:r>
            <a:r>
              <a:rPr lang="en-US" sz="13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· Odluke, NLP i CBR</a:t>
            </a:r>
            <a:endParaRPr lang="en-US" sz="1350" dirty="0"/>
          </a:p>
        </p:txBody>
      </p:sp>
      <p:sp>
        <p:nvSpPr>
          <p:cNvPr id="17" name="Text 12"/>
          <p:cNvSpPr/>
          <p:nvPr/>
        </p:nvSpPr>
        <p:spPr>
          <a:xfrm>
            <a:off x="5266944" y="5541264"/>
            <a:ext cx="254203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30" dirty="0">
                <a:solidFill>
                  <a:srgbClr val="AEBBB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Akoma Ntoso odluke · ekstrakcija · sličnost</a:t>
            </a:r>
            <a:endParaRPr lang="en-US" sz="1030" dirty="0"/>
          </a:p>
        </p:txBody>
      </p:sp>
      <p:sp>
        <p:nvSpPr>
          <p:cNvPr id="18" name="Shape 13"/>
          <p:cNvSpPr/>
          <p:nvPr/>
        </p:nvSpPr>
        <p:spPr>
          <a:xfrm>
            <a:off x="8110728" y="5074920"/>
            <a:ext cx="3456432" cy="1234440"/>
          </a:xfrm>
          <a:prstGeom prst="roundRect">
            <a:avLst>
              <a:gd name="adj" fmla="val 7407"/>
            </a:avLst>
          </a:prstGeom>
          <a:solidFill>
            <a:srgbClr val="1E2A24"/>
          </a:solidFill>
          <a:ln w="12700">
            <a:solidFill>
              <a:srgbClr val="3A4A4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9" name="Shape 14"/>
          <p:cNvSpPr/>
          <p:nvPr/>
        </p:nvSpPr>
        <p:spPr>
          <a:xfrm>
            <a:off x="8311896" y="5285232"/>
            <a:ext cx="457200" cy="457200"/>
          </a:xfrm>
          <a:prstGeom prst="ellipse">
            <a:avLst/>
          </a:prstGeom>
          <a:solidFill>
            <a:srgbClr val="285238"/>
          </a:solidFill>
          <a:ln/>
        </p:spPr>
        <p:txBody>
          <a:bodyPr/>
          <a:lstStyle/>
          <a:p>
            <a:endParaRPr lang="en-US"/>
          </a:p>
        </p:txBody>
      </p:sp>
      <p:pic>
        <p:nvPicPr>
          <p:cNvPr id="20" name="Image 3" descr="ico/gavel_w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421624" y="5394960"/>
            <a:ext cx="237744" cy="237744"/>
          </a:xfrm>
          <a:prstGeom prst="rect">
            <a:avLst/>
          </a:prstGeom>
        </p:spPr>
      </p:pic>
      <p:sp>
        <p:nvSpPr>
          <p:cNvPr id="21" name="Text 15"/>
          <p:cNvSpPr/>
          <p:nvPr/>
        </p:nvSpPr>
        <p:spPr>
          <a:xfrm>
            <a:off x="8887968" y="5248656"/>
            <a:ext cx="254203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sr-Latn-RS" sz="13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Bogdan Čiplić</a:t>
            </a:r>
            <a:r>
              <a:rPr lang="en-US" sz="13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· Prikaz i odlučivanje</a:t>
            </a:r>
            <a:endParaRPr lang="en-US" sz="1350" dirty="0"/>
          </a:p>
        </p:txBody>
      </p:sp>
      <p:sp>
        <p:nvSpPr>
          <p:cNvPr id="22" name="Text 16"/>
          <p:cNvSpPr/>
          <p:nvPr/>
        </p:nvSpPr>
        <p:spPr>
          <a:xfrm>
            <a:off x="8887968" y="5541264"/>
            <a:ext cx="254203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30" dirty="0">
                <a:solidFill>
                  <a:srgbClr val="AEBBB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navigacija · kombinovano · generisanje</a:t>
            </a:r>
            <a:endParaRPr lang="en-US" sz="103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502920"/>
            <a:ext cx="10972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 err="1">
                <a:solidFill>
                  <a:srgbClr val="14241F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Šta</a:t>
            </a:r>
            <a:r>
              <a:rPr lang="en-US" sz="3000" b="1" dirty="0">
                <a:solidFill>
                  <a:srgbClr val="14241F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 </a:t>
            </a:r>
            <a:r>
              <a:rPr lang="en-US" sz="3000" b="1" dirty="0" err="1">
                <a:solidFill>
                  <a:srgbClr val="14241F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gradimo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566928" y="1115568"/>
            <a:ext cx="10972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i="1" dirty="0">
                <a:solidFill>
                  <a:srgbClr val="6C76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 celina </a:t>
            </a:r>
            <a:r>
              <a:rPr lang="en-US" sz="1400" i="1" dirty="0" err="1">
                <a:solidFill>
                  <a:srgbClr val="6C76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projektnog</a:t>
            </a:r>
            <a:r>
              <a:rPr lang="en-US" sz="1400" i="1" dirty="0">
                <a:solidFill>
                  <a:srgbClr val="6C76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400" i="1" dirty="0" err="1">
                <a:solidFill>
                  <a:srgbClr val="6C76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zadatka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548640" y="1783080"/>
            <a:ext cx="4160520" cy="4480560"/>
          </a:xfrm>
          <a:prstGeom prst="roundRect">
            <a:avLst>
              <a:gd name="adj" fmla="val 2198"/>
            </a:avLst>
          </a:prstGeom>
          <a:solidFill>
            <a:srgbClr val="F1F5EE"/>
          </a:solidFill>
          <a:ln w="12700">
            <a:solidFill>
              <a:srgbClr val="DCE3D9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" name="Text 3"/>
          <p:cNvSpPr/>
          <p:nvPr/>
        </p:nvSpPr>
        <p:spPr>
          <a:xfrm>
            <a:off x="777240" y="196596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kern="0" spc="150" dirty="0">
                <a:solidFill>
                  <a:srgbClr val="C8A2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 jezgru sistema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777240" y="2331720"/>
            <a:ext cx="3749040" cy="3749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177800" indent="-177800">
              <a:lnSpc>
                <a:spcPct val="102000"/>
              </a:lnSpc>
              <a:spcAft>
                <a:spcPts val="900"/>
              </a:spcAft>
              <a:buSzPct val="100000"/>
              <a:buChar char="•"/>
            </a:pPr>
            <a:r>
              <a:rPr lang="en-US" sz="1320" dirty="0">
                <a:solidFill>
                  <a:srgbClr val="2230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Baza znanja: 1</a:t>
            </a:r>
            <a:r>
              <a:rPr lang="sr-Latn-RS" sz="1320" dirty="0">
                <a:solidFill>
                  <a:srgbClr val="2230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</a:t>
            </a:r>
            <a:r>
              <a:rPr lang="en-US" sz="1320" dirty="0">
                <a:solidFill>
                  <a:srgbClr val="2230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320" dirty="0" err="1">
                <a:solidFill>
                  <a:srgbClr val="2230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zakon</a:t>
            </a:r>
            <a:r>
              <a:rPr lang="sr-Latn-RS" sz="1320" dirty="0">
                <a:solidFill>
                  <a:srgbClr val="2230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</a:t>
            </a:r>
            <a:r>
              <a:rPr lang="en-US" sz="1320" dirty="0">
                <a:solidFill>
                  <a:srgbClr val="2230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+ 46 sudskih odluka u Akoma Ntoso (XML)</a:t>
            </a:r>
            <a:endParaRPr lang="en-US" sz="1320" dirty="0"/>
          </a:p>
          <a:p>
            <a:pPr marL="177800" indent="-177800">
              <a:lnSpc>
                <a:spcPct val="102000"/>
              </a:lnSpc>
              <a:spcAft>
                <a:spcPts val="900"/>
              </a:spcAft>
              <a:buSzPct val="100000"/>
              <a:buChar char="•"/>
            </a:pPr>
            <a:r>
              <a:rPr lang="sr-Latn-RS" sz="1320" dirty="0">
                <a:solidFill>
                  <a:srgbClr val="2230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55</a:t>
            </a:r>
            <a:r>
              <a:rPr lang="en-US" sz="1320" dirty="0">
                <a:solidFill>
                  <a:srgbClr val="2230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 pravnih normi modelovanih u LegalRuleML</a:t>
            </a:r>
            <a:endParaRPr lang="en-US" sz="1320" dirty="0"/>
          </a:p>
          <a:p>
            <a:pPr marL="177800" indent="-177800">
              <a:lnSpc>
                <a:spcPct val="102000"/>
              </a:lnSpc>
              <a:spcAft>
                <a:spcPts val="900"/>
              </a:spcAft>
              <a:buSzPct val="100000"/>
              <a:buChar char="•"/>
            </a:pPr>
            <a:r>
              <a:rPr lang="en-US" sz="1320" dirty="0">
                <a:solidFill>
                  <a:srgbClr val="2230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NLP ekstrakcija metapodataka i pravnih činjenica</a:t>
            </a:r>
            <a:endParaRPr lang="en-US" sz="1320" dirty="0"/>
          </a:p>
          <a:p>
            <a:pPr marL="177800" indent="-177800">
              <a:lnSpc>
                <a:spcPct val="102000"/>
              </a:lnSpc>
              <a:spcAft>
                <a:spcPts val="900"/>
              </a:spcAft>
              <a:buSzPct val="100000"/>
              <a:buChar char="•"/>
            </a:pPr>
            <a:r>
              <a:rPr lang="en-US" sz="1320" dirty="0">
                <a:solidFill>
                  <a:srgbClr val="2230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Rasuđivanje po pravilima (dr-device) i po slučajevima (CBR/kNN)</a:t>
            </a:r>
            <a:endParaRPr lang="en-US" sz="1320" dirty="0"/>
          </a:p>
          <a:p>
            <a:pPr marL="177800" indent="-177800">
              <a:lnSpc>
                <a:spcPct val="102000"/>
              </a:lnSpc>
              <a:spcAft>
                <a:spcPts val="900"/>
              </a:spcAft>
              <a:buSzPct val="100000"/>
              <a:buChar char="•"/>
            </a:pPr>
            <a:r>
              <a:rPr lang="en-US" sz="1320" dirty="0">
                <a:solidFill>
                  <a:srgbClr val="2230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Predlog kazne + generisanje nacrta presude (LLM)</a:t>
            </a:r>
            <a:endParaRPr lang="en-US" sz="1320" dirty="0"/>
          </a:p>
        </p:txBody>
      </p:sp>
      <p:sp>
        <p:nvSpPr>
          <p:cNvPr id="7" name="Shape 5"/>
          <p:cNvSpPr/>
          <p:nvPr/>
        </p:nvSpPr>
        <p:spPr>
          <a:xfrm>
            <a:off x="4937760" y="1783080"/>
            <a:ext cx="6702552" cy="1417320"/>
          </a:xfrm>
          <a:prstGeom prst="roundRect">
            <a:avLst>
              <a:gd name="adj" fmla="val 6452"/>
            </a:avLst>
          </a:prstGeom>
          <a:solidFill>
            <a:srgbClr val="FFFFFF"/>
          </a:solidFill>
          <a:ln w="12700">
            <a:solidFill>
              <a:srgbClr val="DCE3D9"/>
            </a:solidFill>
            <a:prstDash val="solid"/>
          </a:ln>
          <a:effectLst>
            <a:outerShdw blurRad="101600" dist="38100" dir="54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8" name="Shape 6"/>
          <p:cNvSpPr/>
          <p:nvPr/>
        </p:nvSpPr>
        <p:spPr>
          <a:xfrm>
            <a:off x="5193792" y="2075688"/>
            <a:ext cx="713232" cy="713232"/>
          </a:xfrm>
          <a:prstGeom prst="ellipse">
            <a:avLst/>
          </a:prstGeom>
          <a:solidFill>
            <a:srgbClr val="F1F5EE"/>
          </a:solidFill>
          <a:ln/>
        </p:spPr>
        <p:txBody>
          <a:bodyPr/>
          <a:lstStyle/>
          <a:p>
            <a:endParaRPr lang="en-US"/>
          </a:p>
        </p:txBody>
      </p:sp>
      <p:pic>
        <p:nvPicPr>
          <p:cNvPr id="9" name="Image 0" descr="ico/scroll_g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76672" y="2258568"/>
            <a:ext cx="347472" cy="347472"/>
          </a:xfrm>
          <a:prstGeom prst="rect">
            <a:avLst/>
          </a:prstGeom>
        </p:spPr>
      </p:pic>
      <p:sp>
        <p:nvSpPr>
          <p:cNvPr id="10" name="Shape 7"/>
          <p:cNvSpPr/>
          <p:nvPr/>
        </p:nvSpPr>
        <p:spPr>
          <a:xfrm>
            <a:off x="5650992" y="2496312"/>
            <a:ext cx="310896" cy="310896"/>
          </a:xfrm>
          <a:prstGeom prst="ellipse">
            <a:avLst/>
          </a:prstGeom>
          <a:solidFill>
            <a:srgbClr val="7BA05B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1" name="Text 8"/>
          <p:cNvSpPr/>
          <p:nvPr/>
        </p:nvSpPr>
        <p:spPr>
          <a:xfrm>
            <a:off x="5650992" y="2496312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1</a:t>
            </a:r>
            <a:endParaRPr lang="en-US" sz="1300" dirty="0"/>
          </a:p>
        </p:txBody>
      </p:sp>
      <p:sp>
        <p:nvSpPr>
          <p:cNvPr id="12" name="Text 9"/>
          <p:cNvSpPr/>
          <p:nvPr/>
        </p:nvSpPr>
        <p:spPr>
          <a:xfrm>
            <a:off x="6126480" y="1965960"/>
            <a:ext cx="5303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50" b="1" dirty="0">
                <a:solidFill>
                  <a:srgbClr val="14241F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Član 1 — Norme i pravila</a:t>
            </a:r>
            <a:endParaRPr lang="en-US" sz="1550" dirty="0"/>
          </a:p>
        </p:txBody>
      </p:sp>
      <p:sp>
        <p:nvSpPr>
          <p:cNvPr id="13" name="Text 10"/>
          <p:cNvSpPr/>
          <p:nvPr/>
        </p:nvSpPr>
        <p:spPr>
          <a:xfrm>
            <a:off x="6126480" y="2313432"/>
            <a:ext cx="53035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b="1" dirty="0">
                <a:solidFill>
                  <a:srgbClr val="7BA0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Celine 1, 3, 5</a:t>
            </a:r>
            <a:endParaRPr lang="en-US" sz="1150" dirty="0"/>
          </a:p>
        </p:txBody>
      </p:sp>
      <p:sp>
        <p:nvSpPr>
          <p:cNvPr id="14" name="Text 11"/>
          <p:cNvSpPr/>
          <p:nvPr/>
        </p:nvSpPr>
        <p:spPr>
          <a:xfrm>
            <a:off x="6126480" y="2606040"/>
            <a:ext cx="53492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00000"/>
              </a:lnSpc>
              <a:buNone/>
            </a:pPr>
            <a:r>
              <a:rPr lang="en-US" sz="1150" dirty="0">
                <a:solidFill>
                  <a:srgbClr val="6C76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Zakon u Akoma Ntoso, pravne norme u LegalRuleML i rasuđivanje po pravilima (dr-device).</a:t>
            </a:r>
            <a:endParaRPr lang="en-US" sz="1150" dirty="0"/>
          </a:p>
        </p:txBody>
      </p:sp>
      <p:sp>
        <p:nvSpPr>
          <p:cNvPr id="15" name="Shape 12"/>
          <p:cNvSpPr/>
          <p:nvPr/>
        </p:nvSpPr>
        <p:spPr>
          <a:xfrm>
            <a:off x="4937760" y="3319272"/>
            <a:ext cx="6702552" cy="1417320"/>
          </a:xfrm>
          <a:prstGeom prst="roundRect">
            <a:avLst>
              <a:gd name="adj" fmla="val 6452"/>
            </a:avLst>
          </a:prstGeom>
          <a:solidFill>
            <a:srgbClr val="FFFFFF"/>
          </a:solidFill>
          <a:ln w="12700">
            <a:solidFill>
              <a:srgbClr val="DCE3D9"/>
            </a:solidFill>
            <a:prstDash val="solid"/>
          </a:ln>
          <a:effectLst>
            <a:outerShdw blurRad="101600" dist="38100" dir="54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6" name="Shape 13"/>
          <p:cNvSpPr/>
          <p:nvPr/>
        </p:nvSpPr>
        <p:spPr>
          <a:xfrm>
            <a:off x="5193792" y="3611880"/>
            <a:ext cx="713232" cy="713232"/>
          </a:xfrm>
          <a:prstGeom prst="ellipse">
            <a:avLst/>
          </a:prstGeom>
          <a:solidFill>
            <a:srgbClr val="F1F5EE"/>
          </a:solidFill>
          <a:ln/>
        </p:spPr>
        <p:txBody>
          <a:bodyPr/>
          <a:lstStyle/>
          <a:p>
            <a:endParaRPr lang="en-US"/>
          </a:p>
        </p:txBody>
      </p:sp>
      <p:pic>
        <p:nvPicPr>
          <p:cNvPr id="17" name="Image 1" descr="ico/brain_g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376672" y="3794760"/>
            <a:ext cx="347472" cy="347472"/>
          </a:xfrm>
          <a:prstGeom prst="rect">
            <a:avLst/>
          </a:prstGeom>
        </p:spPr>
      </p:pic>
      <p:sp>
        <p:nvSpPr>
          <p:cNvPr id="18" name="Shape 14"/>
          <p:cNvSpPr/>
          <p:nvPr/>
        </p:nvSpPr>
        <p:spPr>
          <a:xfrm>
            <a:off x="5650992" y="4032504"/>
            <a:ext cx="310896" cy="310896"/>
          </a:xfrm>
          <a:prstGeom prst="ellipse">
            <a:avLst/>
          </a:prstGeom>
          <a:solidFill>
            <a:srgbClr val="C8A24B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9" name="Text 15"/>
          <p:cNvSpPr/>
          <p:nvPr/>
        </p:nvSpPr>
        <p:spPr>
          <a:xfrm>
            <a:off x="5650992" y="4032504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2</a:t>
            </a:r>
            <a:endParaRPr lang="en-US" sz="1300" dirty="0"/>
          </a:p>
        </p:txBody>
      </p:sp>
      <p:sp>
        <p:nvSpPr>
          <p:cNvPr id="20" name="Text 16"/>
          <p:cNvSpPr/>
          <p:nvPr/>
        </p:nvSpPr>
        <p:spPr>
          <a:xfrm>
            <a:off x="6126480" y="3502152"/>
            <a:ext cx="5303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50" b="1" dirty="0">
                <a:solidFill>
                  <a:srgbClr val="14241F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Član 2 — Odluke, NLP i CBR</a:t>
            </a:r>
            <a:endParaRPr lang="en-US" sz="1550" dirty="0"/>
          </a:p>
        </p:txBody>
      </p:sp>
      <p:sp>
        <p:nvSpPr>
          <p:cNvPr id="21" name="Text 17"/>
          <p:cNvSpPr/>
          <p:nvPr/>
        </p:nvSpPr>
        <p:spPr>
          <a:xfrm>
            <a:off x="6126480" y="3849624"/>
            <a:ext cx="53035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b="1" dirty="0">
                <a:solidFill>
                  <a:srgbClr val="9A7B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Celine 2, 4, 6</a:t>
            </a:r>
            <a:endParaRPr lang="en-US" sz="1150" dirty="0"/>
          </a:p>
        </p:txBody>
      </p:sp>
      <p:sp>
        <p:nvSpPr>
          <p:cNvPr id="22" name="Text 18"/>
          <p:cNvSpPr/>
          <p:nvPr/>
        </p:nvSpPr>
        <p:spPr>
          <a:xfrm>
            <a:off x="6126480" y="4142232"/>
            <a:ext cx="53492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00000"/>
              </a:lnSpc>
              <a:buNone/>
            </a:pPr>
            <a:r>
              <a:rPr lang="en-US" sz="1150" dirty="0">
                <a:solidFill>
                  <a:srgbClr val="6C76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46 odluka u Akoma Ntoso, NLP ekstrakcija činjenica, baza slučajeva i sličnost (kNN).</a:t>
            </a:r>
            <a:endParaRPr lang="en-US" sz="1150" dirty="0"/>
          </a:p>
        </p:txBody>
      </p:sp>
      <p:sp>
        <p:nvSpPr>
          <p:cNvPr id="23" name="Shape 19"/>
          <p:cNvSpPr/>
          <p:nvPr/>
        </p:nvSpPr>
        <p:spPr>
          <a:xfrm>
            <a:off x="4937760" y="4855464"/>
            <a:ext cx="6702552" cy="1417320"/>
          </a:xfrm>
          <a:prstGeom prst="roundRect">
            <a:avLst>
              <a:gd name="adj" fmla="val 6452"/>
            </a:avLst>
          </a:prstGeom>
          <a:solidFill>
            <a:srgbClr val="FFFFFF"/>
          </a:solidFill>
          <a:ln w="12700">
            <a:solidFill>
              <a:srgbClr val="DCE3D9"/>
            </a:solidFill>
            <a:prstDash val="solid"/>
          </a:ln>
          <a:effectLst>
            <a:outerShdw blurRad="101600" dist="38100" dir="54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24" name="Shape 20"/>
          <p:cNvSpPr/>
          <p:nvPr/>
        </p:nvSpPr>
        <p:spPr>
          <a:xfrm>
            <a:off x="5193792" y="5148072"/>
            <a:ext cx="713232" cy="713232"/>
          </a:xfrm>
          <a:prstGeom prst="ellipse">
            <a:avLst/>
          </a:prstGeom>
          <a:solidFill>
            <a:srgbClr val="F1F5EE"/>
          </a:solidFill>
          <a:ln/>
        </p:spPr>
        <p:txBody>
          <a:bodyPr/>
          <a:lstStyle/>
          <a:p>
            <a:endParaRPr lang="en-US"/>
          </a:p>
        </p:txBody>
      </p:sp>
      <p:pic>
        <p:nvPicPr>
          <p:cNvPr id="25" name="Image 2" descr="ico/gavel_g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376672" y="5330952"/>
            <a:ext cx="347472" cy="347472"/>
          </a:xfrm>
          <a:prstGeom prst="rect">
            <a:avLst/>
          </a:prstGeom>
        </p:spPr>
      </p:pic>
      <p:sp>
        <p:nvSpPr>
          <p:cNvPr id="26" name="Shape 21"/>
          <p:cNvSpPr/>
          <p:nvPr/>
        </p:nvSpPr>
        <p:spPr>
          <a:xfrm>
            <a:off x="5650992" y="5568696"/>
            <a:ext cx="310896" cy="310896"/>
          </a:xfrm>
          <a:prstGeom prst="ellipse">
            <a:avLst/>
          </a:prstGeom>
          <a:solidFill>
            <a:srgbClr val="285238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7" name="Text 22"/>
          <p:cNvSpPr/>
          <p:nvPr/>
        </p:nvSpPr>
        <p:spPr>
          <a:xfrm>
            <a:off x="5650992" y="5568696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3</a:t>
            </a:r>
            <a:endParaRPr lang="en-US" sz="1300" dirty="0"/>
          </a:p>
        </p:txBody>
      </p:sp>
      <p:sp>
        <p:nvSpPr>
          <p:cNvPr id="28" name="Text 23"/>
          <p:cNvSpPr/>
          <p:nvPr/>
        </p:nvSpPr>
        <p:spPr>
          <a:xfrm>
            <a:off x="6126480" y="5038344"/>
            <a:ext cx="5303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50" b="1" dirty="0">
                <a:solidFill>
                  <a:srgbClr val="14241F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Član 3 — Prikaz i odlučivanje</a:t>
            </a:r>
            <a:endParaRPr lang="en-US" sz="1550" dirty="0"/>
          </a:p>
        </p:txBody>
      </p:sp>
      <p:sp>
        <p:nvSpPr>
          <p:cNvPr id="29" name="Text 24"/>
          <p:cNvSpPr/>
          <p:nvPr/>
        </p:nvSpPr>
        <p:spPr>
          <a:xfrm>
            <a:off x="6126480" y="5385816"/>
            <a:ext cx="53035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b="1" dirty="0">
                <a:solidFill>
                  <a:srgbClr val="2852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Celine 7, 8, 9</a:t>
            </a:r>
            <a:endParaRPr lang="en-US" sz="1150" dirty="0"/>
          </a:p>
        </p:txBody>
      </p:sp>
      <p:sp>
        <p:nvSpPr>
          <p:cNvPr id="30" name="Text 25"/>
          <p:cNvSpPr/>
          <p:nvPr/>
        </p:nvSpPr>
        <p:spPr>
          <a:xfrm>
            <a:off x="6126480" y="5678424"/>
            <a:ext cx="53492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00000"/>
              </a:lnSpc>
              <a:buNone/>
            </a:pPr>
            <a:r>
              <a:rPr lang="en-US" sz="1150" dirty="0">
                <a:solidFill>
                  <a:srgbClr val="6C76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Prikaz i navigacija kroz reference, kombinovano rasuđivanje nad unosom i generisanje presude.</a:t>
            </a:r>
            <a:endParaRPr lang="en-US" sz="11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457200"/>
            <a:ext cx="658368" cy="658368"/>
          </a:xfrm>
          <a:prstGeom prst="ellipse">
            <a:avLst/>
          </a:prstGeom>
          <a:solidFill>
            <a:srgbClr val="285238"/>
          </a:solidFill>
          <a:ln/>
          <a:effectLst>
            <a:outerShdw blurRad="101600" dist="38100" dir="54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pic>
        <p:nvPicPr>
          <p:cNvPr id="3" name="Image 0" descr="ico/sitemap_g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76656" y="630936"/>
            <a:ext cx="310896" cy="310896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325880" y="457200"/>
            <a:ext cx="7772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50" b="1" kern="0" spc="200" dirty="0">
                <a:solidFill>
                  <a:srgbClr val="C8A2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PREGLED · TEHNIČKI STACK</a:t>
            </a:r>
            <a:endParaRPr lang="en-US" sz="1150" dirty="0"/>
          </a:p>
        </p:txBody>
      </p:sp>
      <p:sp>
        <p:nvSpPr>
          <p:cNvPr id="5" name="Text 2"/>
          <p:cNvSpPr/>
          <p:nvPr/>
        </p:nvSpPr>
        <p:spPr>
          <a:xfrm>
            <a:off x="1307592" y="713232"/>
            <a:ext cx="87782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700" b="1" dirty="0">
                <a:solidFill>
                  <a:srgbClr val="14241F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Arhitektura sistema</a:t>
            </a:r>
            <a:endParaRPr lang="en-US" sz="2700" dirty="0"/>
          </a:p>
        </p:txBody>
      </p:sp>
      <p:sp>
        <p:nvSpPr>
          <p:cNvPr id="6" name="Shape 3"/>
          <p:cNvSpPr/>
          <p:nvPr/>
        </p:nvSpPr>
        <p:spPr>
          <a:xfrm>
            <a:off x="8805672" y="512064"/>
            <a:ext cx="2880360" cy="420624"/>
          </a:xfrm>
          <a:prstGeom prst="roundRect">
            <a:avLst>
              <a:gd name="adj" fmla="val 50000"/>
            </a:avLst>
          </a:prstGeom>
          <a:solidFill>
            <a:srgbClr val="F1F5EE"/>
          </a:solidFill>
          <a:ln w="12700">
            <a:solidFill>
              <a:srgbClr val="DCE3D9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7" name="Shape 4"/>
          <p:cNvSpPr/>
          <p:nvPr/>
        </p:nvSpPr>
        <p:spPr>
          <a:xfrm>
            <a:off x="8970264" y="649224"/>
            <a:ext cx="146304" cy="146304"/>
          </a:xfrm>
          <a:prstGeom prst="ellipse">
            <a:avLst/>
          </a:prstGeom>
          <a:solidFill>
            <a:srgbClr val="7BA05B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8" name="Text 5"/>
          <p:cNvSpPr/>
          <p:nvPr/>
        </p:nvSpPr>
        <p:spPr>
          <a:xfrm>
            <a:off x="9189720" y="512064"/>
            <a:ext cx="23774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sr-Latn-RS" sz="1150" b="1" dirty="0">
                <a:solidFill>
                  <a:srgbClr val="2230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Boris Letić</a:t>
            </a:r>
            <a:r>
              <a:rPr lang="en-US" sz="1150" b="1" dirty="0">
                <a:solidFill>
                  <a:srgbClr val="2230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· Norme i pravila</a:t>
            </a:r>
            <a:endParaRPr lang="en-US" sz="1150" dirty="0"/>
          </a:p>
        </p:txBody>
      </p:sp>
      <p:sp>
        <p:nvSpPr>
          <p:cNvPr id="9" name="Shape 6"/>
          <p:cNvSpPr/>
          <p:nvPr/>
        </p:nvSpPr>
        <p:spPr>
          <a:xfrm>
            <a:off x="342900" y="1965960"/>
            <a:ext cx="1993392" cy="1783080"/>
          </a:xfrm>
          <a:prstGeom prst="roundRect">
            <a:avLst>
              <a:gd name="adj" fmla="val 5128"/>
            </a:avLst>
          </a:prstGeom>
          <a:solidFill>
            <a:srgbClr val="14241F"/>
          </a:solidFill>
          <a:ln w="12700">
            <a:solidFill>
              <a:srgbClr val="14241F"/>
            </a:solidFill>
            <a:prstDash val="solid"/>
          </a:ln>
          <a:effectLst>
            <a:outerShdw blurRad="114300" dist="50800" dir="5400000" algn="bl" rotWithShape="0">
              <a:srgbClr val="000000">
                <a:alpha val="15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0" name="Shape 7"/>
          <p:cNvSpPr/>
          <p:nvPr/>
        </p:nvSpPr>
        <p:spPr>
          <a:xfrm>
            <a:off x="1010412" y="2203704"/>
            <a:ext cx="658368" cy="658368"/>
          </a:xfrm>
          <a:prstGeom prst="ellipse">
            <a:avLst/>
          </a:prstGeom>
          <a:solidFill>
            <a:srgbClr val="285238"/>
          </a:solidFill>
          <a:ln/>
        </p:spPr>
        <p:txBody>
          <a:bodyPr/>
          <a:lstStyle/>
          <a:p>
            <a:endParaRPr lang="en-US"/>
          </a:p>
        </p:txBody>
      </p:sp>
      <p:pic>
        <p:nvPicPr>
          <p:cNvPr id="11" name="Image 1" descr="ico/code_w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147572" y="2340864"/>
            <a:ext cx="384048" cy="384048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416052" y="2916936"/>
            <a:ext cx="184708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Akoma Ntoso</a:t>
            </a:r>
            <a:endParaRPr lang="en-US" sz="1400" dirty="0"/>
          </a:p>
        </p:txBody>
      </p:sp>
      <p:sp>
        <p:nvSpPr>
          <p:cNvPr id="13" name="Text 9"/>
          <p:cNvSpPr/>
          <p:nvPr/>
        </p:nvSpPr>
        <p:spPr>
          <a:xfrm>
            <a:off x="416052" y="3264408"/>
            <a:ext cx="184708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030" dirty="0">
                <a:solidFill>
                  <a:srgbClr val="BFCBC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XML zakon + 46 odluka</a:t>
            </a:r>
            <a:endParaRPr lang="en-US" sz="1030" dirty="0"/>
          </a:p>
        </p:txBody>
      </p:sp>
      <p:pic>
        <p:nvPicPr>
          <p:cNvPr id="14" name="Image 2" descr="ico/arrow_g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409444" y="2738628"/>
            <a:ext cx="237744" cy="237744"/>
          </a:xfrm>
          <a:prstGeom prst="rect">
            <a:avLst/>
          </a:prstGeom>
        </p:spPr>
      </p:pic>
      <p:sp>
        <p:nvSpPr>
          <p:cNvPr id="15" name="Shape 10"/>
          <p:cNvSpPr/>
          <p:nvPr/>
        </p:nvSpPr>
        <p:spPr>
          <a:xfrm>
            <a:off x="2720340" y="1965960"/>
            <a:ext cx="1993392" cy="1783080"/>
          </a:xfrm>
          <a:prstGeom prst="roundRect">
            <a:avLst>
              <a:gd name="adj" fmla="val 5128"/>
            </a:avLst>
          </a:prstGeom>
          <a:solidFill>
            <a:srgbClr val="14241F"/>
          </a:solidFill>
          <a:ln w="12700">
            <a:solidFill>
              <a:srgbClr val="14241F"/>
            </a:solidFill>
            <a:prstDash val="solid"/>
          </a:ln>
          <a:effectLst>
            <a:outerShdw blurRad="114300" dist="50800" dir="5400000" algn="bl" rotWithShape="0">
              <a:srgbClr val="000000">
                <a:alpha val="15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6" name="Shape 11"/>
          <p:cNvSpPr/>
          <p:nvPr/>
        </p:nvSpPr>
        <p:spPr>
          <a:xfrm>
            <a:off x="3387852" y="2203704"/>
            <a:ext cx="658368" cy="658368"/>
          </a:xfrm>
          <a:prstGeom prst="ellipse">
            <a:avLst/>
          </a:prstGeom>
          <a:solidFill>
            <a:srgbClr val="285238"/>
          </a:solidFill>
          <a:ln/>
        </p:spPr>
        <p:txBody>
          <a:bodyPr/>
          <a:lstStyle/>
          <a:p>
            <a:endParaRPr lang="en-US"/>
          </a:p>
        </p:txBody>
      </p:sp>
      <p:pic>
        <p:nvPicPr>
          <p:cNvPr id="17" name="Image 3" descr="ico/brain_w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525012" y="2340864"/>
            <a:ext cx="384048" cy="384048"/>
          </a:xfrm>
          <a:prstGeom prst="rect">
            <a:avLst/>
          </a:prstGeom>
        </p:spPr>
      </p:pic>
      <p:sp>
        <p:nvSpPr>
          <p:cNvPr id="18" name="Text 12"/>
          <p:cNvSpPr/>
          <p:nvPr/>
        </p:nvSpPr>
        <p:spPr>
          <a:xfrm>
            <a:off x="2793492" y="2916936"/>
            <a:ext cx="184708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NLP ekstrakcija</a:t>
            </a:r>
            <a:endParaRPr lang="en-US" sz="1400" dirty="0"/>
          </a:p>
        </p:txBody>
      </p:sp>
      <p:sp>
        <p:nvSpPr>
          <p:cNvPr id="19" name="Text 13"/>
          <p:cNvSpPr/>
          <p:nvPr/>
        </p:nvSpPr>
        <p:spPr>
          <a:xfrm>
            <a:off x="2793492" y="3264408"/>
            <a:ext cx="184708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030" dirty="0">
                <a:solidFill>
                  <a:srgbClr val="BFCBC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metapodaci + činjenice</a:t>
            </a:r>
            <a:endParaRPr lang="en-US" sz="1030" dirty="0"/>
          </a:p>
        </p:txBody>
      </p:sp>
      <p:pic>
        <p:nvPicPr>
          <p:cNvPr id="20" name="Image 4" descr="ico/arrow_g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786884" y="2738628"/>
            <a:ext cx="237744" cy="237744"/>
          </a:xfrm>
          <a:prstGeom prst="rect">
            <a:avLst/>
          </a:prstGeom>
        </p:spPr>
      </p:pic>
      <p:sp>
        <p:nvSpPr>
          <p:cNvPr id="21" name="Shape 14"/>
          <p:cNvSpPr/>
          <p:nvPr/>
        </p:nvSpPr>
        <p:spPr>
          <a:xfrm>
            <a:off x="5097780" y="1965960"/>
            <a:ext cx="1993392" cy="1783080"/>
          </a:xfrm>
          <a:prstGeom prst="roundRect">
            <a:avLst>
              <a:gd name="adj" fmla="val 5128"/>
            </a:avLst>
          </a:prstGeom>
          <a:solidFill>
            <a:srgbClr val="C8A24B"/>
          </a:solidFill>
          <a:ln w="12700">
            <a:solidFill>
              <a:srgbClr val="C8A24B"/>
            </a:solidFill>
            <a:prstDash val="solid"/>
          </a:ln>
          <a:effectLst>
            <a:outerShdw blurRad="114300" dist="50800" dir="5400000" algn="bl" rotWithShape="0">
              <a:srgbClr val="000000">
                <a:alpha val="15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22" name="Shape 15"/>
          <p:cNvSpPr/>
          <p:nvPr/>
        </p:nvSpPr>
        <p:spPr>
          <a:xfrm>
            <a:off x="5765292" y="2203704"/>
            <a:ext cx="658368" cy="658368"/>
          </a:xfrm>
          <a:prstGeom prst="ellipse">
            <a:avLst/>
          </a:prstGeom>
          <a:solidFill>
            <a:srgbClr val="FFFFFF"/>
          </a:solidFill>
          <a:ln/>
        </p:spPr>
        <p:txBody>
          <a:bodyPr/>
          <a:lstStyle/>
          <a:p>
            <a:endParaRPr lang="en-US"/>
          </a:p>
        </p:txBody>
      </p:sp>
      <p:pic>
        <p:nvPicPr>
          <p:cNvPr id="23" name="Image 5" descr="ico/cogs_g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5902452" y="2340864"/>
            <a:ext cx="384048" cy="384048"/>
          </a:xfrm>
          <a:prstGeom prst="rect">
            <a:avLst/>
          </a:prstGeom>
        </p:spPr>
      </p:pic>
      <p:sp>
        <p:nvSpPr>
          <p:cNvPr id="24" name="Text 16"/>
          <p:cNvSpPr/>
          <p:nvPr/>
        </p:nvSpPr>
        <p:spPr>
          <a:xfrm>
            <a:off x="5170932" y="2916936"/>
            <a:ext cx="184708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14241F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Rasuđivanje</a:t>
            </a:r>
            <a:endParaRPr lang="en-US" sz="1400" dirty="0"/>
          </a:p>
        </p:txBody>
      </p:sp>
      <p:sp>
        <p:nvSpPr>
          <p:cNvPr id="25" name="Text 17"/>
          <p:cNvSpPr/>
          <p:nvPr/>
        </p:nvSpPr>
        <p:spPr>
          <a:xfrm>
            <a:off x="5170932" y="3264408"/>
            <a:ext cx="184708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030" dirty="0">
                <a:solidFill>
                  <a:srgbClr val="4A3A1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dr-device  +  CBR/kNN</a:t>
            </a:r>
            <a:endParaRPr lang="en-US" sz="1030" dirty="0"/>
          </a:p>
        </p:txBody>
      </p:sp>
      <p:pic>
        <p:nvPicPr>
          <p:cNvPr id="26" name="Image 6" descr="ico/arrow_g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164324" y="2738628"/>
            <a:ext cx="237744" cy="237744"/>
          </a:xfrm>
          <a:prstGeom prst="rect">
            <a:avLst/>
          </a:prstGeom>
        </p:spPr>
      </p:pic>
      <p:sp>
        <p:nvSpPr>
          <p:cNvPr id="27" name="Shape 18"/>
          <p:cNvSpPr/>
          <p:nvPr/>
        </p:nvSpPr>
        <p:spPr>
          <a:xfrm>
            <a:off x="7475220" y="1965960"/>
            <a:ext cx="1993392" cy="1783080"/>
          </a:xfrm>
          <a:prstGeom prst="roundRect">
            <a:avLst>
              <a:gd name="adj" fmla="val 5128"/>
            </a:avLst>
          </a:prstGeom>
          <a:solidFill>
            <a:srgbClr val="14241F"/>
          </a:solidFill>
          <a:ln w="12700">
            <a:solidFill>
              <a:srgbClr val="14241F"/>
            </a:solidFill>
            <a:prstDash val="solid"/>
          </a:ln>
          <a:effectLst>
            <a:outerShdw blurRad="114300" dist="50800" dir="5400000" algn="bl" rotWithShape="0">
              <a:srgbClr val="000000">
                <a:alpha val="15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28" name="Shape 19"/>
          <p:cNvSpPr/>
          <p:nvPr/>
        </p:nvSpPr>
        <p:spPr>
          <a:xfrm>
            <a:off x="8142732" y="2203704"/>
            <a:ext cx="658368" cy="658368"/>
          </a:xfrm>
          <a:prstGeom prst="ellipse">
            <a:avLst/>
          </a:prstGeom>
          <a:solidFill>
            <a:srgbClr val="285238"/>
          </a:solidFill>
          <a:ln/>
        </p:spPr>
        <p:txBody>
          <a:bodyPr/>
          <a:lstStyle/>
          <a:p>
            <a:endParaRPr lang="en-US"/>
          </a:p>
        </p:txBody>
      </p:sp>
      <p:pic>
        <p:nvPicPr>
          <p:cNvPr id="29" name="Image 7" descr="ico/gavel_w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8279892" y="2340864"/>
            <a:ext cx="384048" cy="384048"/>
          </a:xfrm>
          <a:prstGeom prst="rect">
            <a:avLst/>
          </a:prstGeom>
        </p:spPr>
      </p:pic>
      <p:sp>
        <p:nvSpPr>
          <p:cNvPr id="30" name="Text 20"/>
          <p:cNvSpPr/>
          <p:nvPr/>
        </p:nvSpPr>
        <p:spPr>
          <a:xfrm>
            <a:off x="7548372" y="2916936"/>
            <a:ext cx="184708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Predlog odluke</a:t>
            </a:r>
            <a:endParaRPr lang="en-US" sz="1400" dirty="0"/>
          </a:p>
        </p:txBody>
      </p:sp>
      <p:sp>
        <p:nvSpPr>
          <p:cNvPr id="31" name="Text 21"/>
          <p:cNvSpPr/>
          <p:nvPr/>
        </p:nvSpPr>
        <p:spPr>
          <a:xfrm>
            <a:off x="7548372" y="3264408"/>
            <a:ext cx="184708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030" dirty="0">
                <a:solidFill>
                  <a:srgbClr val="BFCBC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članovi + kazna</a:t>
            </a:r>
            <a:endParaRPr lang="en-US" sz="1030" dirty="0"/>
          </a:p>
        </p:txBody>
      </p:sp>
      <p:pic>
        <p:nvPicPr>
          <p:cNvPr id="32" name="Image 8" descr="ico/arrow_g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541764" y="2738628"/>
            <a:ext cx="237744" cy="237744"/>
          </a:xfrm>
          <a:prstGeom prst="rect">
            <a:avLst/>
          </a:prstGeom>
        </p:spPr>
      </p:pic>
      <p:sp>
        <p:nvSpPr>
          <p:cNvPr id="33" name="Shape 22"/>
          <p:cNvSpPr/>
          <p:nvPr/>
        </p:nvSpPr>
        <p:spPr>
          <a:xfrm>
            <a:off x="9852660" y="1965960"/>
            <a:ext cx="1993392" cy="1783080"/>
          </a:xfrm>
          <a:prstGeom prst="roundRect">
            <a:avLst>
              <a:gd name="adj" fmla="val 5128"/>
            </a:avLst>
          </a:prstGeom>
          <a:solidFill>
            <a:srgbClr val="14241F"/>
          </a:solidFill>
          <a:ln w="12700">
            <a:solidFill>
              <a:srgbClr val="14241F"/>
            </a:solidFill>
            <a:prstDash val="solid"/>
          </a:ln>
          <a:effectLst>
            <a:outerShdw blurRad="114300" dist="50800" dir="5400000" algn="bl" rotWithShape="0">
              <a:srgbClr val="000000">
                <a:alpha val="15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34" name="Shape 23"/>
          <p:cNvSpPr/>
          <p:nvPr/>
        </p:nvSpPr>
        <p:spPr>
          <a:xfrm>
            <a:off x="10520172" y="2203704"/>
            <a:ext cx="658368" cy="658368"/>
          </a:xfrm>
          <a:prstGeom prst="ellipse">
            <a:avLst/>
          </a:prstGeom>
          <a:solidFill>
            <a:srgbClr val="285238"/>
          </a:solidFill>
          <a:ln/>
        </p:spPr>
        <p:txBody>
          <a:bodyPr/>
          <a:lstStyle/>
          <a:p>
            <a:endParaRPr lang="en-US"/>
          </a:p>
        </p:txBody>
      </p:sp>
      <p:pic>
        <p:nvPicPr>
          <p:cNvPr id="35" name="Image 9" descr="ico/magic_w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10657332" y="2340864"/>
            <a:ext cx="384048" cy="384048"/>
          </a:xfrm>
          <a:prstGeom prst="rect">
            <a:avLst/>
          </a:prstGeom>
        </p:spPr>
      </p:pic>
      <p:sp>
        <p:nvSpPr>
          <p:cNvPr id="36" name="Text 24"/>
          <p:cNvSpPr/>
          <p:nvPr/>
        </p:nvSpPr>
        <p:spPr>
          <a:xfrm>
            <a:off x="9925812" y="2916936"/>
            <a:ext cx="184708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Generisanje</a:t>
            </a:r>
            <a:endParaRPr lang="en-US" sz="1400" dirty="0"/>
          </a:p>
        </p:txBody>
      </p:sp>
      <p:sp>
        <p:nvSpPr>
          <p:cNvPr id="37" name="Text 25"/>
          <p:cNvSpPr/>
          <p:nvPr/>
        </p:nvSpPr>
        <p:spPr>
          <a:xfrm>
            <a:off x="9925812" y="3264408"/>
            <a:ext cx="184708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030" dirty="0">
                <a:solidFill>
                  <a:srgbClr val="BFCBC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LLM → XML presuda</a:t>
            </a:r>
            <a:endParaRPr lang="en-US" sz="1030" dirty="0"/>
          </a:p>
        </p:txBody>
      </p:sp>
      <p:sp>
        <p:nvSpPr>
          <p:cNvPr id="38" name="Text 26"/>
          <p:cNvSpPr/>
          <p:nvPr/>
        </p:nvSpPr>
        <p:spPr>
          <a:xfrm>
            <a:off x="548640" y="3933386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50" i="1" dirty="0">
                <a:solidFill>
                  <a:srgbClr val="6C76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Spring Boot servis sa Thymeleaf UI; svaki korak je zaseban modul u paketu rs.ftn.pi.*</a:t>
            </a:r>
            <a:endParaRPr lang="en-US" sz="1350" dirty="0"/>
          </a:p>
        </p:txBody>
      </p:sp>
      <p:pic>
        <p:nvPicPr>
          <p:cNvPr id="54" name="Picture 53">
            <a:extLst>
              <a:ext uri="{FF2B5EF4-FFF2-40B4-BE49-F238E27FC236}">
                <a16:creationId xmlns:a16="http://schemas.microsoft.com/office/drawing/2014/main" id="{39353C75-16DB-2140-154D-E1EA0AE7CADA}"/>
              </a:ext>
            </a:extLst>
      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0" y="4384548"/>
            <a:ext cx="12192000" cy="2473452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457200"/>
            <a:ext cx="658368" cy="658368"/>
          </a:xfrm>
          <a:prstGeom prst="ellipse">
            <a:avLst/>
          </a:prstGeom>
          <a:solidFill>
            <a:srgbClr val="285238"/>
          </a:solidFill>
          <a:ln/>
          <a:effectLst>
            <a:outerShdw blurRad="101600" dist="38100" dir="54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pic>
        <p:nvPicPr>
          <p:cNvPr id="3" name="Image 0" descr="ico/code_g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76656" y="630936"/>
            <a:ext cx="310896" cy="310896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325880" y="457200"/>
            <a:ext cx="7772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50" b="1" kern="0" spc="200" dirty="0">
                <a:solidFill>
                  <a:srgbClr val="C8A2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CELINA 1 · NORME I PRAVILA</a:t>
            </a:r>
            <a:endParaRPr lang="en-US" sz="1150" dirty="0"/>
          </a:p>
        </p:txBody>
      </p:sp>
      <p:sp>
        <p:nvSpPr>
          <p:cNvPr id="5" name="Text 2"/>
          <p:cNvSpPr/>
          <p:nvPr/>
        </p:nvSpPr>
        <p:spPr>
          <a:xfrm>
            <a:off x="1307592" y="713232"/>
            <a:ext cx="87782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700" b="1" dirty="0">
                <a:solidFill>
                  <a:srgbClr val="14241F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Zakon u Akoma Ntoso (XML)</a:t>
            </a:r>
            <a:endParaRPr lang="en-US" sz="2700" dirty="0"/>
          </a:p>
        </p:txBody>
      </p:sp>
      <p:sp>
        <p:nvSpPr>
          <p:cNvPr id="6" name="Shape 3"/>
          <p:cNvSpPr/>
          <p:nvPr/>
        </p:nvSpPr>
        <p:spPr>
          <a:xfrm>
            <a:off x="8805672" y="512064"/>
            <a:ext cx="2880360" cy="420624"/>
          </a:xfrm>
          <a:prstGeom prst="roundRect">
            <a:avLst>
              <a:gd name="adj" fmla="val 50000"/>
            </a:avLst>
          </a:prstGeom>
          <a:solidFill>
            <a:srgbClr val="F1F5EE"/>
          </a:solidFill>
          <a:ln w="12700">
            <a:solidFill>
              <a:srgbClr val="DCE3D9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7" name="Shape 4"/>
          <p:cNvSpPr/>
          <p:nvPr/>
        </p:nvSpPr>
        <p:spPr>
          <a:xfrm>
            <a:off x="8970264" y="649224"/>
            <a:ext cx="146304" cy="146304"/>
          </a:xfrm>
          <a:prstGeom prst="ellipse">
            <a:avLst/>
          </a:prstGeom>
          <a:solidFill>
            <a:srgbClr val="7BA05B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8" name="Text 5"/>
          <p:cNvSpPr/>
          <p:nvPr/>
        </p:nvSpPr>
        <p:spPr>
          <a:xfrm>
            <a:off x="9189720" y="512064"/>
            <a:ext cx="23774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sr-Latn-RS" sz="1150" b="1" dirty="0">
                <a:solidFill>
                  <a:srgbClr val="2230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Boris Letić</a:t>
            </a:r>
            <a:r>
              <a:rPr lang="en-US" sz="1150" b="1" dirty="0">
                <a:solidFill>
                  <a:srgbClr val="2230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· Norme i pravila</a:t>
            </a:r>
            <a:endParaRPr lang="en-US" sz="1150" dirty="0"/>
          </a:p>
        </p:txBody>
      </p:sp>
      <p:sp>
        <p:nvSpPr>
          <p:cNvPr id="9" name="Text 6"/>
          <p:cNvSpPr/>
          <p:nvPr/>
        </p:nvSpPr>
        <p:spPr>
          <a:xfrm>
            <a:off x="566928" y="1691640"/>
            <a:ext cx="4160520" cy="3383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177800" indent="-177800">
              <a:lnSpc>
                <a:spcPct val="102000"/>
              </a:lnSpc>
              <a:spcAft>
                <a:spcPts val="1000"/>
              </a:spcAft>
              <a:buSzPct val="100000"/>
              <a:buChar char="•"/>
            </a:pPr>
            <a:r>
              <a:rPr lang="en-US" sz="1360" dirty="0">
                <a:solidFill>
                  <a:srgbClr val="2230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Krivični zakonik, Glava XXIV — Krivična dela protiv životne sredine</a:t>
            </a:r>
            <a:endParaRPr lang="en-US" sz="1360" dirty="0"/>
          </a:p>
          <a:p>
            <a:pPr marL="177800" indent="-177800">
              <a:lnSpc>
                <a:spcPct val="102000"/>
              </a:lnSpc>
              <a:spcAft>
                <a:spcPts val="1000"/>
              </a:spcAft>
              <a:buSzPct val="100000"/>
              <a:buChar char="•"/>
            </a:pPr>
            <a:r>
              <a:rPr lang="en-US" sz="1360" dirty="0">
                <a:solidFill>
                  <a:srgbClr val="2230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Tekst anotiran i sačuvan kao Akoma Ntoso XML dokument</a:t>
            </a:r>
            <a:endParaRPr lang="en-US" sz="1360" dirty="0"/>
          </a:p>
          <a:p>
            <a:pPr marL="177800" indent="-177800">
              <a:lnSpc>
                <a:spcPct val="102000"/>
              </a:lnSpc>
              <a:spcAft>
                <a:spcPts val="1000"/>
              </a:spcAft>
              <a:buSzPct val="100000"/>
              <a:buChar char="•"/>
            </a:pPr>
            <a:r>
              <a:rPr lang="en-US" sz="1360" dirty="0">
                <a:solidFill>
                  <a:srgbClr val="2230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Anotirane klasifikacione jedinice (glava, član, stav)</a:t>
            </a:r>
            <a:endParaRPr lang="en-US" sz="1360" dirty="0"/>
          </a:p>
          <a:p>
            <a:pPr marL="177800" indent="-177800">
              <a:lnSpc>
                <a:spcPct val="102000"/>
              </a:lnSpc>
              <a:spcAft>
                <a:spcPts val="1000"/>
              </a:spcAft>
              <a:buSzPct val="100000"/>
              <a:buChar char="•"/>
            </a:pPr>
            <a:r>
              <a:rPr lang="en-US" sz="1360" dirty="0">
                <a:solidFill>
                  <a:srgbClr val="2230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Reference ka istom i drugim zakonima + entiteti (datumi, organizacije)</a:t>
            </a:r>
            <a:endParaRPr lang="en-US" sz="1360" dirty="0"/>
          </a:p>
          <a:p>
            <a:pPr marL="177800" indent="-177800">
              <a:lnSpc>
                <a:spcPct val="102000"/>
              </a:lnSpc>
              <a:spcAft>
                <a:spcPts val="1000"/>
              </a:spcAft>
              <a:buSzPct val="100000"/>
              <a:buChar char="•"/>
            </a:pPr>
            <a:r>
              <a:rPr lang="en-US" sz="1360" dirty="0">
                <a:solidFill>
                  <a:srgbClr val="2230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Aplikacija učitava XML i prikazuje čist tekst — korisnik ne vidi XML</a:t>
            </a:r>
            <a:endParaRPr lang="en-US" sz="1360" dirty="0"/>
          </a:p>
        </p:txBody>
      </p:sp>
      <p:sp>
        <p:nvSpPr>
          <p:cNvPr id="10" name="Shape 7"/>
          <p:cNvSpPr/>
          <p:nvPr/>
        </p:nvSpPr>
        <p:spPr>
          <a:xfrm>
            <a:off x="1527048" y="5230368"/>
            <a:ext cx="2240280" cy="914400"/>
          </a:xfrm>
          <a:prstGeom prst="roundRect">
            <a:avLst>
              <a:gd name="adj" fmla="val 8000"/>
            </a:avLst>
          </a:prstGeom>
          <a:solidFill>
            <a:srgbClr val="F1F5EE"/>
          </a:solidFill>
          <a:ln w="12700">
            <a:solidFill>
              <a:srgbClr val="DCE3D9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1" name="Text 8"/>
          <p:cNvSpPr/>
          <p:nvPr/>
        </p:nvSpPr>
        <p:spPr>
          <a:xfrm>
            <a:off x="2400818" y="5266771"/>
            <a:ext cx="2020824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600" b="1" dirty="0">
                <a:solidFill>
                  <a:srgbClr val="285238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18</a:t>
            </a:r>
            <a:endParaRPr lang="en-US" sz="2600" dirty="0"/>
          </a:p>
        </p:txBody>
      </p:sp>
      <p:sp>
        <p:nvSpPr>
          <p:cNvPr id="12" name="Text 9"/>
          <p:cNvSpPr/>
          <p:nvPr/>
        </p:nvSpPr>
        <p:spPr>
          <a:xfrm>
            <a:off x="2100101" y="5769691"/>
            <a:ext cx="202082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100" dirty="0">
                <a:solidFill>
                  <a:srgbClr val="6C76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anotiranih članova</a:t>
            </a:r>
            <a:endParaRPr lang="en-US" sz="1100" dirty="0"/>
          </a:p>
        </p:txBody>
      </p:sp>
      <p:sp>
        <p:nvSpPr>
          <p:cNvPr id="16" name="Shape 13"/>
          <p:cNvSpPr/>
          <p:nvPr/>
        </p:nvSpPr>
        <p:spPr>
          <a:xfrm>
            <a:off x="4965192" y="1709285"/>
            <a:ext cx="6803136" cy="4765311"/>
          </a:xfrm>
          <a:prstGeom prst="roundRect">
            <a:avLst>
              <a:gd name="adj" fmla="val 1151"/>
            </a:avLst>
          </a:prstGeom>
          <a:solidFill>
            <a:srgbClr val="FFFFFF"/>
          </a:solidFill>
          <a:ln w="12700">
            <a:solidFill>
              <a:srgbClr val="DCE3D9"/>
            </a:solidFill>
            <a:prstDash val="solid"/>
          </a:ln>
          <a:effectLst>
            <a:outerShdw blurRad="152400" dist="63500" dir="54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pic>
        <p:nvPicPr>
          <p:cNvPr id="17" name="Image 1" descr="img/pravna3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029200" y="1773293"/>
            <a:ext cx="6675120" cy="4637295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457200"/>
            <a:ext cx="658368" cy="658368"/>
          </a:xfrm>
          <a:prstGeom prst="ellipse">
            <a:avLst/>
          </a:prstGeom>
          <a:solidFill>
            <a:srgbClr val="285238"/>
          </a:solidFill>
          <a:ln/>
          <a:effectLst>
            <a:outerShdw blurRad="101600" dist="38100" dir="54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pic>
        <p:nvPicPr>
          <p:cNvPr id="3" name="Image 0" descr="ico/scroll_g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76656" y="630936"/>
            <a:ext cx="310896" cy="310896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325880" y="457200"/>
            <a:ext cx="7772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50" b="1" kern="0" spc="200" dirty="0">
                <a:solidFill>
                  <a:srgbClr val="C8A2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CELINA 3 · PRAVNE NORME</a:t>
            </a:r>
            <a:endParaRPr lang="en-US" sz="1150" dirty="0"/>
          </a:p>
        </p:txBody>
      </p:sp>
      <p:sp>
        <p:nvSpPr>
          <p:cNvPr id="5" name="Text 2"/>
          <p:cNvSpPr/>
          <p:nvPr/>
        </p:nvSpPr>
        <p:spPr>
          <a:xfrm>
            <a:off x="1307592" y="713232"/>
            <a:ext cx="87782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700" b="1" dirty="0">
                <a:solidFill>
                  <a:srgbClr val="14241F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Pravne norme u LegalRuleML</a:t>
            </a:r>
            <a:endParaRPr lang="en-US" sz="2700" dirty="0"/>
          </a:p>
        </p:txBody>
      </p:sp>
      <p:sp>
        <p:nvSpPr>
          <p:cNvPr id="6" name="Shape 3"/>
          <p:cNvSpPr/>
          <p:nvPr/>
        </p:nvSpPr>
        <p:spPr>
          <a:xfrm>
            <a:off x="8805672" y="512064"/>
            <a:ext cx="2880360" cy="420624"/>
          </a:xfrm>
          <a:prstGeom prst="roundRect">
            <a:avLst>
              <a:gd name="adj" fmla="val 50000"/>
            </a:avLst>
          </a:prstGeom>
          <a:solidFill>
            <a:srgbClr val="F1F5EE"/>
          </a:solidFill>
          <a:ln w="12700">
            <a:solidFill>
              <a:srgbClr val="DCE3D9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7" name="Shape 4"/>
          <p:cNvSpPr/>
          <p:nvPr/>
        </p:nvSpPr>
        <p:spPr>
          <a:xfrm>
            <a:off x="8970264" y="649224"/>
            <a:ext cx="146304" cy="146304"/>
          </a:xfrm>
          <a:prstGeom prst="ellipse">
            <a:avLst/>
          </a:prstGeom>
          <a:solidFill>
            <a:srgbClr val="7BA05B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8" name="Text 5"/>
          <p:cNvSpPr/>
          <p:nvPr/>
        </p:nvSpPr>
        <p:spPr>
          <a:xfrm>
            <a:off x="9189720" y="512064"/>
            <a:ext cx="23774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sr-Latn-RS" sz="1150" b="1" dirty="0">
                <a:solidFill>
                  <a:srgbClr val="2230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Boris Letić</a:t>
            </a:r>
            <a:r>
              <a:rPr lang="en-US" sz="1150" b="1" dirty="0">
                <a:solidFill>
                  <a:srgbClr val="2230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· Norme i pravila</a:t>
            </a:r>
            <a:endParaRPr lang="en-US" sz="1150" dirty="0"/>
          </a:p>
        </p:txBody>
      </p:sp>
      <p:sp>
        <p:nvSpPr>
          <p:cNvPr id="9" name="Text 6"/>
          <p:cNvSpPr/>
          <p:nvPr/>
        </p:nvSpPr>
        <p:spPr>
          <a:xfrm>
            <a:off x="566928" y="1691640"/>
            <a:ext cx="4572000" cy="31089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177800" indent="-177800">
              <a:lnSpc>
                <a:spcPct val="102000"/>
              </a:lnSpc>
              <a:spcAft>
                <a:spcPts val="1100"/>
              </a:spcAft>
              <a:buSzPct val="100000"/>
              <a:buChar char="•"/>
            </a:pPr>
            <a:r>
              <a:rPr lang="en-US" sz="1400" dirty="0">
                <a:solidFill>
                  <a:srgbClr val="2230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Podskup normi iz KZ modelovan kao pravila u LegalRuleML</a:t>
            </a:r>
            <a:endParaRPr lang="en-US" sz="1400" dirty="0"/>
          </a:p>
          <a:p>
            <a:pPr marL="177800" indent="-177800">
              <a:lnSpc>
                <a:spcPct val="102000"/>
              </a:lnSpc>
              <a:spcAft>
                <a:spcPts val="1100"/>
              </a:spcAft>
              <a:buSzPct val="100000"/>
              <a:buChar char="•"/>
            </a:pPr>
            <a:r>
              <a:rPr lang="en-US" sz="1400" dirty="0">
                <a:solidFill>
                  <a:srgbClr val="2230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Skup činjenica u pravilima usklađen sa činjenicama iz odluka</a:t>
            </a:r>
            <a:endParaRPr lang="en-US" sz="1400" dirty="0"/>
          </a:p>
          <a:p>
            <a:pPr marL="177800" indent="-177800">
              <a:lnSpc>
                <a:spcPct val="102000"/>
              </a:lnSpc>
              <a:spcAft>
                <a:spcPts val="1100"/>
              </a:spcAft>
              <a:buSzPct val="100000"/>
              <a:buChar char="•"/>
            </a:pPr>
            <a:r>
              <a:rPr lang="sr-Latn-RS" sz="1400" dirty="0">
                <a:solidFill>
                  <a:srgbClr val="2230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</a:t>
            </a:r>
            <a:r>
              <a:rPr lang="en-US" sz="1400" dirty="0" err="1">
                <a:solidFill>
                  <a:srgbClr val="2230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efeasible</a:t>
            </a:r>
            <a:r>
              <a:rPr lang="en-US" sz="1400" dirty="0">
                <a:solidFill>
                  <a:srgbClr val="2230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logika — kasnije izvršava dr-device</a:t>
            </a:r>
            <a:endParaRPr lang="en-US" sz="1400" dirty="0"/>
          </a:p>
          <a:p>
            <a:pPr marL="177800" indent="-177800">
              <a:lnSpc>
                <a:spcPct val="102000"/>
              </a:lnSpc>
              <a:spcAft>
                <a:spcPts val="1100"/>
              </a:spcAft>
              <a:buSzPct val="100000"/>
              <a:buChar char="•"/>
            </a:pPr>
            <a:r>
              <a:rPr lang="sr-Latn-RS" sz="1400" dirty="0">
                <a:solidFill>
                  <a:srgbClr val="2230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55 </a:t>
            </a:r>
            <a:r>
              <a:rPr lang="en-US" sz="1400" dirty="0" err="1">
                <a:solidFill>
                  <a:srgbClr val="2230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pravila</a:t>
            </a:r>
            <a:r>
              <a:rPr lang="en-US" sz="1400" dirty="0">
                <a:solidFill>
                  <a:srgbClr val="2230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(ne računajući negacije)</a:t>
            </a:r>
            <a:endParaRPr lang="en-US" sz="1400" dirty="0"/>
          </a:p>
        </p:txBody>
      </p:sp>
      <p:sp>
        <p:nvSpPr>
          <p:cNvPr id="10" name="Shape 7"/>
          <p:cNvSpPr/>
          <p:nvPr/>
        </p:nvSpPr>
        <p:spPr>
          <a:xfrm>
            <a:off x="5349240" y="1600200"/>
            <a:ext cx="6309360" cy="4983480"/>
          </a:xfrm>
          <a:prstGeom prst="roundRect">
            <a:avLst>
              <a:gd name="adj" fmla="val 1835"/>
            </a:avLst>
          </a:prstGeom>
          <a:solidFill>
            <a:srgbClr val="14241F"/>
          </a:solidFill>
          <a:ln/>
          <a:effectLst>
            <a:outerShdw blurRad="152400" dist="63500" dir="54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1" name="Text 8"/>
          <p:cNvSpPr/>
          <p:nvPr/>
        </p:nvSpPr>
        <p:spPr>
          <a:xfrm>
            <a:off x="5623560" y="1828800"/>
            <a:ext cx="5760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kern="0" spc="100" dirty="0">
                <a:solidFill>
                  <a:srgbClr val="C8A2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Primeri modelovanih pravila</a:t>
            </a:r>
            <a:endParaRPr lang="en-US" sz="1300" dirty="0"/>
          </a:p>
        </p:txBody>
      </p:sp>
      <p:sp>
        <p:nvSpPr>
          <p:cNvPr id="12" name="Shape 9"/>
          <p:cNvSpPr/>
          <p:nvPr/>
        </p:nvSpPr>
        <p:spPr>
          <a:xfrm>
            <a:off x="5623560" y="2286000"/>
            <a:ext cx="5760720" cy="749808"/>
          </a:xfrm>
          <a:prstGeom prst="roundRect">
            <a:avLst>
              <a:gd name="adj" fmla="val 7317"/>
            </a:avLst>
          </a:prstGeom>
          <a:solidFill>
            <a:srgbClr val="1E2A24"/>
          </a:solidFill>
          <a:ln w="12700">
            <a:solidFill>
              <a:srgbClr val="3A4A4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3" name="Text 10"/>
          <p:cNvSpPr/>
          <p:nvPr/>
        </p:nvSpPr>
        <p:spPr>
          <a:xfrm>
            <a:off x="5788152" y="2359152"/>
            <a:ext cx="5486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b="1" dirty="0">
                <a:solidFill>
                  <a:srgbClr val="7BA0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R1 · čl. 260 st. 1</a:t>
            </a:r>
            <a:endParaRPr lang="en-US" sz="1150" dirty="0"/>
          </a:p>
        </p:txBody>
      </p:sp>
      <p:sp>
        <p:nvSpPr>
          <p:cNvPr id="14" name="Text 11"/>
          <p:cNvSpPr/>
          <p:nvPr/>
        </p:nvSpPr>
        <p:spPr>
          <a:xfrm>
            <a:off x="5788152" y="2596896"/>
            <a:ext cx="54406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96000"/>
              </a:lnSpc>
              <a:buNone/>
            </a:pPr>
            <a:r>
              <a:rPr lang="en-US" sz="1060" dirty="0">
                <a:solidFill>
                  <a:srgbClr val="D7DE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kršenje propisa ∧ (vazduh ∨ voda ∨ zemljište) ∧ (veća mera ∨ širi prostor) ⇒ violates(art_260_para_1)</a:t>
            </a:r>
            <a:endParaRPr lang="en-US" sz="1060" dirty="0"/>
          </a:p>
        </p:txBody>
      </p:sp>
      <p:sp>
        <p:nvSpPr>
          <p:cNvPr id="15" name="Shape 12"/>
          <p:cNvSpPr/>
          <p:nvPr/>
        </p:nvSpPr>
        <p:spPr>
          <a:xfrm>
            <a:off x="5623560" y="3127248"/>
            <a:ext cx="5760720" cy="749808"/>
          </a:xfrm>
          <a:prstGeom prst="roundRect">
            <a:avLst>
              <a:gd name="adj" fmla="val 7317"/>
            </a:avLst>
          </a:prstGeom>
          <a:solidFill>
            <a:srgbClr val="1E2A24"/>
          </a:solidFill>
          <a:ln w="12700">
            <a:solidFill>
              <a:srgbClr val="3A4A4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6" name="Text 13"/>
          <p:cNvSpPr/>
          <p:nvPr/>
        </p:nvSpPr>
        <p:spPr>
          <a:xfrm>
            <a:off x="5788152" y="3200400"/>
            <a:ext cx="5486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b="1" dirty="0">
                <a:solidFill>
                  <a:srgbClr val="7BA0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R4 · čl. 260 st. 4</a:t>
            </a:r>
            <a:endParaRPr lang="en-US" sz="1150" dirty="0"/>
          </a:p>
        </p:txBody>
      </p:sp>
      <p:sp>
        <p:nvSpPr>
          <p:cNvPr id="17" name="Text 14"/>
          <p:cNvSpPr/>
          <p:nvPr/>
        </p:nvSpPr>
        <p:spPr>
          <a:xfrm>
            <a:off x="5788152" y="3438144"/>
            <a:ext cx="54406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96000"/>
              </a:lnSpc>
              <a:buNone/>
            </a:pPr>
            <a:r>
              <a:rPr lang="en-US" sz="1060" dirty="0">
                <a:solidFill>
                  <a:srgbClr val="D7DE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st. 2 ∧ uništenje živ./bilj. sveta ∧ otklanjanje (duže/skupo) ⇒ violates(art_260_para_4)</a:t>
            </a:r>
            <a:endParaRPr lang="en-US" sz="1060" dirty="0"/>
          </a:p>
        </p:txBody>
      </p:sp>
      <p:sp>
        <p:nvSpPr>
          <p:cNvPr id="18" name="Shape 15"/>
          <p:cNvSpPr/>
          <p:nvPr/>
        </p:nvSpPr>
        <p:spPr>
          <a:xfrm>
            <a:off x="5623560" y="3968496"/>
            <a:ext cx="5760720" cy="749808"/>
          </a:xfrm>
          <a:prstGeom prst="roundRect">
            <a:avLst>
              <a:gd name="adj" fmla="val 7317"/>
            </a:avLst>
          </a:prstGeom>
          <a:solidFill>
            <a:srgbClr val="1E2A24"/>
          </a:solidFill>
          <a:ln w="12700">
            <a:solidFill>
              <a:srgbClr val="3A4A4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9" name="Text 16"/>
          <p:cNvSpPr/>
          <p:nvPr/>
        </p:nvSpPr>
        <p:spPr>
          <a:xfrm>
            <a:off x="5788152" y="4041648"/>
            <a:ext cx="5486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b="1" dirty="0">
                <a:solidFill>
                  <a:srgbClr val="7BA0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R7 · čl. 261 st. 1</a:t>
            </a:r>
            <a:endParaRPr lang="en-US" sz="1150" dirty="0"/>
          </a:p>
        </p:txBody>
      </p:sp>
      <p:sp>
        <p:nvSpPr>
          <p:cNvPr id="20" name="Text 17"/>
          <p:cNvSpPr/>
          <p:nvPr/>
        </p:nvSpPr>
        <p:spPr>
          <a:xfrm>
            <a:off x="5788152" y="4279392"/>
            <a:ext cx="54406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96000"/>
              </a:lnSpc>
              <a:buNone/>
            </a:pPr>
            <a:r>
              <a:rPr lang="en-US" sz="1060" dirty="0">
                <a:solidFill>
                  <a:srgbClr val="D7DE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odgovorno lice ∧ ¬preduzeo mere zaštite ⇒ violates(art_261_para_1)</a:t>
            </a:r>
            <a:endParaRPr lang="en-US" sz="1060" dirty="0"/>
          </a:p>
        </p:txBody>
      </p:sp>
      <p:sp>
        <p:nvSpPr>
          <p:cNvPr id="21" name="Shape 18"/>
          <p:cNvSpPr/>
          <p:nvPr/>
        </p:nvSpPr>
        <p:spPr>
          <a:xfrm>
            <a:off x="5623560" y="4809744"/>
            <a:ext cx="5760720" cy="749808"/>
          </a:xfrm>
          <a:prstGeom prst="roundRect">
            <a:avLst>
              <a:gd name="adj" fmla="val 7317"/>
            </a:avLst>
          </a:prstGeom>
          <a:solidFill>
            <a:srgbClr val="1E2A24"/>
          </a:solidFill>
          <a:ln w="12700">
            <a:solidFill>
              <a:srgbClr val="3A4A4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2" name="Text 19"/>
          <p:cNvSpPr/>
          <p:nvPr/>
        </p:nvSpPr>
        <p:spPr>
          <a:xfrm>
            <a:off x="5788152" y="4882896"/>
            <a:ext cx="5486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b="1" dirty="0">
                <a:solidFill>
                  <a:srgbClr val="7BA0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R9 · čl. 266 st. 1</a:t>
            </a:r>
            <a:endParaRPr lang="en-US" sz="1150" dirty="0"/>
          </a:p>
        </p:txBody>
      </p:sp>
      <p:sp>
        <p:nvSpPr>
          <p:cNvPr id="23" name="Text 20"/>
          <p:cNvSpPr/>
          <p:nvPr/>
        </p:nvSpPr>
        <p:spPr>
          <a:xfrm>
            <a:off x="5788152" y="5120640"/>
            <a:ext cx="54406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96000"/>
              </a:lnSpc>
              <a:buNone/>
            </a:pPr>
            <a:r>
              <a:rPr lang="en-US" sz="1060" dirty="0">
                <a:solidFill>
                  <a:srgbClr val="D7DE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opasne materije ∧ unos/prevoz/skladištenje ⇒ violates(art_266_para_1)</a:t>
            </a:r>
            <a:endParaRPr lang="en-US" sz="1060" dirty="0"/>
          </a:p>
        </p:txBody>
      </p:sp>
      <p:sp>
        <p:nvSpPr>
          <p:cNvPr id="24" name="Shape 21"/>
          <p:cNvSpPr/>
          <p:nvPr/>
        </p:nvSpPr>
        <p:spPr>
          <a:xfrm>
            <a:off x="5623560" y="5650992"/>
            <a:ext cx="5760720" cy="749808"/>
          </a:xfrm>
          <a:prstGeom prst="roundRect">
            <a:avLst>
              <a:gd name="adj" fmla="val 7317"/>
            </a:avLst>
          </a:prstGeom>
          <a:solidFill>
            <a:srgbClr val="1E2A24"/>
          </a:solidFill>
          <a:ln w="12700">
            <a:solidFill>
              <a:srgbClr val="3A4A4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5" name="Text 22"/>
          <p:cNvSpPr/>
          <p:nvPr/>
        </p:nvSpPr>
        <p:spPr>
          <a:xfrm>
            <a:off x="5788152" y="5724144"/>
            <a:ext cx="5486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b="1" dirty="0">
                <a:solidFill>
                  <a:srgbClr val="7BA0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R12 · čl. 273 st. 4</a:t>
            </a:r>
            <a:endParaRPr lang="en-US" sz="1150" dirty="0"/>
          </a:p>
        </p:txBody>
      </p:sp>
      <p:sp>
        <p:nvSpPr>
          <p:cNvPr id="26" name="Text 23"/>
          <p:cNvSpPr/>
          <p:nvPr/>
        </p:nvSpPr>
        <p:spPr>
          <a:xfrm>
            <a:off x="5788152" y="5961888"/>
            <a:ext cx="54406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96000"/>
              </a:lnSpc>
              <a:buNone/>
            </a:pPr>
            <a:r>
              <a:rPr lang="en-US" sz="1060" dirty="0">
                <a:solidFill>
                  <a:srgbClr val="D7DE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zagađenje hrane/vode za životinje ∧ nehat ⇒ violates(art_273_para_4)</a:t>
            </a:r>
            <a:endParaRPr lang="en-US" sz="106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457200"/>
            <a:ext cx="658368" cy="658368"/>
          </a:xfrm>
          <a:prstGeom prst="ellipse">
            <a:avLst/>
          </a:prstGeom>
          <a:solidFill>
            <a:srgbClr val="285238"/>
          </a:solidFill>
          <a:ln/>
          <a:effectLst>
            <a:outerShdw blurRad="101600" dist="38100" dir="54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pic>
        <p:nvPicPr>
          <p:cNvPr id="3" name="Image 0" descr="ico/cogs_g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76656" y="630936"/>
            <a:ext cx="310896" cy="310896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325880" y="457200"/>
            <a:ext cx="7772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50" b="1" kern="0" spc="200" dirty="0">
                <a:solidFill>
                  <a:srgbClr val="C8A2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CELINA 5 · DR-DEVICE</a:t>
            </a:r>
            <a:endParaRPr lang="en-US" sz="1150" dirty="0"/>
          </a:p>
        </p:txBody>
      </p:sp>
      <p:sp>
        <p:nvSpPr>
          <p:cNvPr id="5" name="Text 2"/>
          <p:cNvSpPr/>
          <p:nvPr/>
        </p:nvSpPr>
        <p:spPr>
          <a:xfrm>
            <a:off x="1307592" y="713232"/>
            <a:ext cx="87782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700" b="1" dirty="0">
                <a:solidFill>
                  <a:srgbClr val="14241F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Rasuđivanje po pravilima (defeasible)</a:t>
            </a:r>
            <a:endParaRPr lang="en-US" sz="2700" dirty="0"/>
          </a:p>
        </p:txBody>
      </p:sp>
      <p:sp>
        <p:nvSpPr>
          <p:cNvPr id="6" name="Shape 3"/>
          <p:cNvSpPr/>
          <p:nvPr/>
        </p:nvSpPr>
        <p:spPr>
          <a:xfrm>
            <a:off x="8805672" y="512064"/>
            <a:ext cx="2880360" cy="420624"/>
          </a:xfrm>
          <a:prstGeom prst="roundRect">
            <a:avLst>
              <a:gd name="adj" fmla="val 50000"/>
            </a:avLst>
          </a:prstGeom>
          <a:solidFill>
            <a:srgbClr val="F1F5EE"/>
          </a:solidFill>
          <a:ln w="12700">
            <a:solidFill>
              <a:srgbClr val="DCE3D9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7" name="Shape 4"/>
          <p:cNvSpPr/>
          <p:nvPr/>
        </p:nvSpPr>
        <p:spPr>
          <a:xfrm>
            <a:off x="8970264" y="649224"/>
            <a:ext cx="146304" cy="146304"/>
          </a:xfrm>
          <a:prstGeom prst="ellipse">
            <a:avLst/>
          </a:prstGeom>
          <a:solidFill>
            <a:srgbClr val="7BA05B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8" name="Text 5"/>
          <p:cNvSpPr/>
          <p:nvPr/>
        </p:nvSpPr>
        <p:spPr>
          <a:xfrm>
            <a:off x="9189720" y="512064"/>
            <a:ext cx="23774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sr-Latn-RS" sz="1150" b="1" dirty="0">
                <a:solidFill>
                  <a:srgbClr val="2230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Boris Letić</a:t>
            </a:r>
            <a:r>
              <a:rPr lang="en-US" sz="1150" b="1" dirty="0">
                <a:solidFill>
                  <a:srgbClr val="2230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· Norme i pravila</a:t>
            </a:r>
            <a:endParaRPr lang="en-US" sz="1150" dirty="0"/>
          </a:p>
        </p:txBody>
      </p:sp>
      <p:sp>
        <p:nvSpPr>
          <p:cNvPr id="11" name="Text 7"/>
          <p:cNvSpPr/>
          <p:nvPr/>
        </p:nvSpPr>
        <p:spPr>
          <a:xfrm>
            <a:off x="566928" y="1783080"/>
            <a:ext cx="6400800" cy="3657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177800" indent="-177800">
              <a:lnSpc>
                <a:spcPct val="102000"/>
              </a:lnSpc>
              <a:spcAft>
                <a:spcPts val="1000"/>
              </a:spcAft>
              <a:buSzPct val="100000"/>
              <a:buChar char="•"/>
            </a:pPr>
            <a:r>
              <a:rPr lang="en-US" sz="1380" dirty="0">
                <a:solidFill>
                  <a:srgbClr val="2230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Ulaz: pravne činjenice iz forme / ekstrakcije</a:t>
            </a:r>
            <a:endParaRPr lang="en-US" sz="1380" dirty="0"/>
          </a:p>
          <a:p>
            <a:pPr marL="177800" indent="-177800">
              <a:lnSpc>
                <a:spcPct val="102000"/>
              </a:lnSpc>
              <a:spcAft>
                <a:spcPts val="1000"/>
              </a:spcAft>
              <a:buSzPct val="100000"/>
              <a:buChar char="•"/>
            </a:pPr>
            <a:r>
              <a:rPr lang="en-US" sz="1380" dirty="0">
                <a:solidFill>
                  <a:srgbClr val="2230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dr-device izvršava LegalRuleML pravila (pobojiva logika)</a:t>
            </a:r>
            <a:endParaRPr lang="en-US" sz="1380" dirty="0"/>
          </a:p>
          <a:p>
            <a:pPr marL="177800" indent="-177800">
              <a:lnSpc>
                <a:spcPct val="102000"/>
              </a:lnSpc>
              <a:spcAft>
                <a:spcPts val="1000"/>
              </a:spcAft>
              <a:buSzPct val="100000"/>
              <a:buChar char="•"/>
            </a:pPr>
            <a:r>
              <a:rPr lang="en-US" sz="1380" dirty="0">
                <a:solidFill>
                  <a:srgbClr val="2230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Izlaz: prekršeni članovi sa oznakom defeasibly-proven-positive</a:t>
            </a:r>
            <a:endParaRPr lang="en-US" sz="1380" dirty="0"/>
          </a:p>
          <a:p>
            <a:pPr marL="177800" indent="-177800">
              <a:lnSpc>
                <a:spcPct val="102000"/>
              </a:lnSpc>
              <a:spcAft>
                <a:spcPts val="1000"/>
              </a:spcAft>
              <a:buSzPct val="100000"/>
              <a:buChar char="•"/>
            </a:pPr>
            <a:r>
              <a:rPr lang="en-US" sz="1380" dirty="0">
                <a:solidFill>
                  <a:srgbClr val="2230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Predlog raspona kazne (npr. ZATVOR 6–60 meseci)</a:t>
            </a:r>
            <a:endParaRPr lang="en-US" sz="1380" dirty="0"/>
          </a:p>
          <a:p>
            <a:pPr marL="177800" indent="-177800">
              <a:lnSpc>
                <a:spcPct val="102000"/>
              </a:lnSpc>
              <a:spcAft>
                <a:spcPts val="1000"/>
              </a:spcAft>
              <a:buSzPct val="100000"/>
              <a:buChar char="•"/>
            </a:pPr>
            <a:r>
              <a:rPr lang="en-US" sz="1380" dirty="0">
                <a:solidFill>
                  <a:srgbClr val="2230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Olakšavajuće / otežavajuće okolnosti (npr. „otklonio štetu“)</a:t>
            </a:r>
            <a:endParaRPr lang="en-US" sz="1380" dirty="0"/>
          </a:p>
          <a:p>
            <a:pPr marL="177800" indent="-177800">
              <a:lnSpc>
                <a:spcPct val="102000"/>
              </a:lnSpc>
              <a:spcAft>
                <a:spcPts val="1000"/>
              </a:spcAft>
              <a:buSzPct val="100000"/>
              <a:buChar char="•"/>
            </a:pPr>
            <a:r>
              <a:rPr lang="en-US" sz="1380" dirty="0">
                <a:solidFill>
                  <a:srgbClr val="2230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Uz svaki član prikazan je i tekst odredbe — kao obrazloženje</a:t>
            </a:r>
            <a:endParaRPr lang="en-US" sz="1380" dirty="0"/>
          </a:p>
        </p:txBody>
      </p:sp>
      <p:pic>
        <p:nvPicPr>
          <p:cNvPr id="13" name="Picture 12">
            <a:extLst>
              <a:ext uri="{FF2B5EF4-FFF2-40B4-BE49-F238E27FC236}">
                <a16:creationId xmlns:a16="http://schemas.microsoft.com/office/drawing/2014/main" id="{1CD51157-ABCC-DE40-57DA-FC4797A764C3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833035" y="1188720"/>
            <a:ext cx="4134427" cy="5611008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457200"/>
            <a:ext cx="658368" cy="658368"/>
          </a:xfrm>
          <a:prstGeom prst="ellipse">
            <a:avLst/>
          </a:prstGeom>
          <a:solidFill>
            <a:srgbClr val="285238"/>
          </a:solidFill>
          <a:ln/>
          <a:effectLst>
            <a:outerShdw blurRad="101600" dist="38100" dir="54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pic>
        <p:nvPicPr>
          <p:cNvPr id="3" name="Image 0" descr="ico/gavel_g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76656" y="630936"/>
            <a:ext cx="310896" cy="310896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325880" y="457200"/>
            <a:ext cx="7772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50" b="1" kern="0" spc="200" dirty="0">
                <a:solidFill>
                  <a:srgbClr val="C8A2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CELINA 2 · SUDSKA PRAKSA</a:t>
            </a:r>
            <a:endParaRPr lang="en-US" sz="1150" dirty="0"/>
          </a:p>
        </p:txBody>
      </p:sp>
      <p:sp>
        <p:nvSpPr>
          <p:cNvPr id="5" name="Text 2"/>
          <p:cNvSpPr/>
          <p:nvPr/>
        </p:nvSpPr>
        <p:spPr>
          <a:xfrm>
            <a:off x="1307592" y="713232"/>
            <a:ext cx="87782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700" b="1" dirty="0">
                <a:solidFill>
                  <a:srgbClr val="14241F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Sudske odluke u Akoma Ntoso</a:t>
            </a:r>
            <a:endParaRPr lang="en-US" sz="2700" dirty="0"/>
          </a:p>
        </p:txBody>
      </p:sp>
      <p:sp>
        <p:nvSpPr>
          <p:cNvPr id="6" name="Shape 3"/>
          <p:cNvSpPr/>
          <p:nvPr/>
        </p:nvSpPr>
        <p:spPr>
          <a:xfrm>
            <a:off x="8668512" y="512064"/>
            <a:ext cx="3017520" cy="420624"/>
          </a:xfrm>
          <a:prstGeom prst="roundRect">
            <a:avLst>
              <a:gd name="adj" fmla="val 50000"/>
            </a:avLst>
          </a:prstGeom>
          <a:solidFill>
            <a:srgbClr val="F1F5EE"/>
          </a:solidFill>
          <a:ln w="12700">
            <a:solidFill>
              <a:srgbClr val="DCE3D9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7" name="Shape 4"/>
          <p:cNvSpPr/>
          <p:nvPr/>
        </p:nvSpPr>
        <p:spPr>
          <a:xfrm>
            <a:off x="8833104" y="649224"/>
            <a:ext cx="146304" cy="146304"/>
          </a:xfrm>
          <a:prstGeom prst="ellipse">
            <a:avLst/>
          </a:prstGeom>
          <a:solidFill>
            <a:srgbClr val="C8A24B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8" name="Text 5"/>
          <p:cNvSpPr/>
          <p:nvPr/>
        </p:nvSpPr>
        <p:spPr>
          <a:xfrm>
            <a:off x="9052560" y="512064"/>
            <a:ext cx="25146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sr-Latn-RS" sz="1150" b="1" dirty="0">
                <a:solidFill>
                  <a:srgbClr val="2230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Nikola Janković </a:t>
            </a:r>
            <a:r>
              <a:rPr lang="en-US" sz="1150" b="1" dirty="0">
                <a:solidFill>
                  <a:srgbClr val="2230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· Odluke, NLP, CBR</a:t>
            </a:r>
            <a:endParaRPr lang="en-US" sz="1150" dirty="0"/>
          </a:p>
        </p:txBody>
      </p:sp>
      <p:sp>
        <p:nvSpPr>
          <p:cNvPr id="9" name="Text 6"/>
          <p:cNvSpPr/>
          <p:nvPr/>
        </p:nvSpPr>
        <p:spPr>
          <a:xfrm>
            <a:off x="566928" y="1691640"/>
            <a:ext cx="4160520" cy="32918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177800" indent="-177800">
              <a:lnSpc>
                <a:spcPct val="102000"/>
              </a:lnSpc>
              <a:spcAft>
                <a:spcPts val="1000"/>
              </a:spcAft>
              <a:buSzPct val="100000"/>
              <a:buChar char="•"/>
            </a:pPr>
            <a:r>
              <a:rPr lang="en-US" sz="1360" dirty="0">
                <a:solidFill>
                  <a:srgbClr val="2230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46 sudskih odluka iz iste oblasti (KZ čl. 260–277)</a:t>
            </a:r>
            <a:endParaRPr lang="en-US" sz="1360" dirty="0"/>
          </a:p>
          <a:p>
            <a:pPr marL="177800" indent="-177800">
              <a:lnSpc>
                <a:spcPct val="102000"/>
              </a:lnSpc>
              <a:spcAft>
                <a:spcPts val="1000"/>
              </a:spcAft>
              <a:buSzPct val="100000"/>
              <a:buChar char="•"/>
            </a:pPr>
            <a:r>
              <a:rPr lang="en-US" sz="1360" dirty="0">
                <a:solidFill>
                  <a:srgbClr val="2230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Anotirano: broj predmeta, sud, datum, pomenuti članovi, reference</a:t>
            </a:r>
            <a:endParaRPr lang="en-US" sz="1360" dirty="0"/>
          </a:p>
          <a:p>
            <a:pPr marL="177800" indent="-177800">
              <a:lnSpc>
                <a:spcPct val="102000"/>
              </a:lnSpc>
              <a:spcAft>
                <a:spcPts val="1000"/>
              </a:spcAft>
              <a:buSzPct val="100000"/>
              <a:buChar char="•"/>
            </a:pPr>
            <a:r>
              <a:rPr lang="en-US" sz="1360" dirty="0">
                <a:solidFill>
                  <a:srgbClr val="2230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Sudovi: Prekršajni apelacioni, Apelacioni, Vrhovni, Vrhovni kasacioni</a:t>
            </a:r>
            <a:endParaRPr lang="en-US" sz="1360" dirty="0"/>
          </a:p>
          <a:p>
            <a:pPr marL="177800" indent="-177800">
              <a:lnSpc>
                <a:spcPct val="102000"/>
              </a:lnSpc>
              <a:spcAft>
                <a:spcPts val="1000"/>
              </a:spcAft>
              <a:buSzPct val="100000"/>
              <a:buChar char="•"/>
            </a:pPr>
            <a:r>
              <a:rPr lang="en-US" sz="1360" dirty="0">
                <a:solidFill>
                  <a:srgbClr val="2230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Reference ka zakonu povezuju odluke sa relevantnim članovima</a:t>
            </a:r>
            <a:endParaRPr lang="en-US" sz="1360" dirty="0"/>
          </a:p>
          <a:p>
            <a:pPr marL="177800" indent="-177800">
              <a:lnSpc>
                <a:spcPct val="102000"/>
              </a:lnSpc>
              <a:spcAft>
                <a:spcPts val="1000"/>
              </a:spcAft>
              <a:buSzPct val="100000"/>
              <a:buChar char="•"/>
            </a:pPr>
            <a:r>
              <a:rPr lang="en-US" sz="1360" dirty="0">
                <a:solidFill>
                  <a:srgbClr val="2230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Učitavanje i pregled kompletnog teksta unutar aplikacije</a:t>
            </a:r>
            <a:endParaRPr lang="en-US" sz="1360" dirty="0"/>
          </a:p>
        </p:txBody>
      </p:sp>
      <p:sp>
        <p:nvSpPr>
          <p:cNvPr id="10" name="Shape 7"/>
          <p:cNvSpPr/>
          <p:nvPr/>
        </p:nvSpPr>
        <p:spPr>
          <a:xfrm>
            <a:off x="566928" y="5212080"/>
            <a:ext cx="2286000" cy="914400"/>
          </a:xfrm>
          <a:prstGeom prst="roundRect">
            <a:avLst>
              <a:gd name="adj" fmla="val 8000"/>
            </a:avLst>
          </a:prstGeom>
          <a:solidFill>
            <a:srgbClr val="F1F5EE"/>
          </a:solidFill>
          <a:ln w="12700">
            <a:solidFill>
              <a:srgbClr val="DCE3D9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1" name="Text 8"/>
          <p:cNvSpPr/>
          <p:nvPr/>
        </p:nvSpPr>
        <p:spPr>
          <a:xfrm>
            <a:off x="676656" y="5285232"/>
            <a:ext cx="2066544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600" b="1" dirty="0">
                <a:solidFill>
                  <a:srgbClr val="285238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46</a:t>
            </a:r>
            <a:endParaRPr lang="en-US" sz="2600" dirty="0"/>
          </a:p>
        </p:txBody>
      </p:sp>
      <p:sp>
        <p:nvSpPr>
          <p:cNvPr id="12" name="Text 9"/>
          <p:cNvSpPr/>
          <p:nvPr/>
        </p:nvSpPr>
        <p:spPr>
          <a:xfrm>
            <a:off x="685800" y="5760720"/>
            <a:ext cx="206654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100" dirty="0">
                <a:solidFill>
                  <a:srgbClr val="6C76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sudskih odluka</a:t>
            </a:r>
            <a:endParaRPr lang="en-US" sz="1100" dirty="0"/>
          </a:p>
        </p:txBody>
      </p:sp>
      <p:sp>
        <p:nvSpPr>
          <p:cNvPr id="16" name="Shape 13"/>
          <p:cNvSpPr/>
          <p:nvPr/>
        </p:nvSpPr>
        <p:spPr>
          <a:xfrm>
            <a:off x="4919472" y="2307097"/>
            <a:ext cx="6848856" cy="3624550"/>
          </a:xfrm>
          <a:prstGeom prst="roundRect">
            <a:avLst>
              <a:gd name="adj" fmla="val 1514"/>
            </a:avLst>
          </a:prstGeom>
          <a:solidFill>
            <a:srgbClr val="FFFFFF"/>
          </a:solidFill>
          <a:ln w="12700">
            <a:solidFill>
              <a:srgbClr val="DCE3D9"/>
            </a:solidFill>
            <a:prstDash val="solid"/>
          </a:ln>
          <a:effectLst>
            <a:outerShdw blurRad="152400" dist="63500" dir="54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pic>
        <p:nvPicPr>
          <p:cNvPr id="17" name="Image 1" descr="img/pravna5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983480" y="2371105"/>
            <a:ext cx="6720840" cy="3496534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457200"/>
            <a:ext cx="658368" cy="658368"/>
          </a:xfrm>
          <a:prstGeom prst="ellipse">
            <a:avLst/>
          </a:prstGeom>
          <a:solidFill>
            <a:srgbClr val="285238"/>
          </a:solidFill>
          <a:ln/>
          <a:effectLst>
            <a:outerShdw blurRad="101600" dist="38100" dir="54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pic>
        <p:nvPicPr>
          <p:cNvPr id="3" name="Image 0" descr="ico/brain_g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76656" y="630936"/>
            <a:ext cx="310896" cy="310896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325880" y="457200"/>
            <a:ext cx="7772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50" b="1" kern="0" spc="200" dirty="0">
                <a:solidFill>
                  <a:srgbClr val="C8A2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CELINA 4 · NLP</a:t>
            </a:r>
            <a:endParaRPr lang="en-US" sz="1150" dirty="0"/>
          </a:p>
        </p:txBody>
      </p:sp>
      <p:sp>
        <p:nvSpPr>
          <p:cNvPr id="5" name="Text 2"/>
          <p:cNvSpPr/>
          <p:nvPr/>
        </p:nvSpPr>
        <p:spPr>
          <a:xfrm>
            <a:off x="1307592" y="713232"/>
            <a:ext cx="87782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700" b="1" dirty="0">
                <a:solidFill>
                  <a:srgbClr val="14241F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Ekstrakcija činjenica iz teksta (NLP)</a:t>
            </a:r>
            <a:endParaRPr lang="en-US" sz="2700" dirty="0"/>
          </a:p>
        </p:txBody>
      </p:sp>
      <p:sp>
        <p:nvSpPr>
          <p:cNvPr id="6" name="Shape 3"/>
          <p:cNvSpPr/>
          <p:nvPr/>
        </p:nvSpPr>
        <p:spPr>
          <a:xfrm>
            <a:off x="8668512" y="512064"/>
            <a:ext cx="3017520" cy="420624"/>
          </a:xfrm>
          <a:prstGeom prst="roundRect">
            <a:avLst>
              <a:gd name="adj" fmla="val 50000"/>
            </a:avLst>
          </a:prstGeom>
          <a:solidFill>
            <a:srgbClr val="F1F5EE"/>
          </a:solidFill>
          <a:ln w="12700">
            <a:solidFill>
              <a:srgbClr val="DCE3D9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7" name="Shape 4"/>
          <p:cNvSpPr/>
          <p:nvPr/>
        </p:nvSpPr>
        <p:spPr>
          <a:xfrm>
            <a:off x="8833104" y="649224"/>
            <a:ext cx="146304" cy="146304"/>
          </a:xfrm>
          <a:prstGeom prst="ellipse">
            <a:avLst/>
          </a:prstGeom>
          <a:solidFill>
            <a:srgbClr val="C8A24B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8" name="Text 5"/>
          <p:cNvSpPr/>
          <p:nvPr/>
        </p:nvSpPr>
        <p:spPr>
          <a:xfrm>
            <a:off x="9052560" y="512064"/>
            <a:ext cx="25146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sr-Latn-RS" sz="1150" b="1" dirty="0">
                <a:solidFill>
                  <a:srgbClr val="2230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Nikola Janković</a:t>
            </a:r>
            <a:r>
              <a:rPr lang="en-US" sz="1150" b="1" dirty="0">
                <a:solidFill>
                  <a:srgbClr val="2230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· Odluke, NLP, CBR</a:t>
            </a:r>
            <a:endParaRPr lang="en-US" sz="1150" dirty="0"/>
          </a:p>
        </p:txBody>
      </p:sp>
      <p:sp>
        <p:nvSpPr>
          <p:cNvPr id="9" name="Shape 6"/>
          <p:cNvSpPr/>
          <p:nvPr/>
        </p:nvSpPr>
        <p:spPr>
          <a:xfrm>
            <a:off x="484632" y="1884830"/>
            <a:ext cx="5413248" cy="2859740"/>
          </a:xfrm>
          <a:prstGeom prst="roundRect">
            <a:avLst>
              <a:gd name="adj" fmla="val 1918"/>
            </a:avLst>
          </a:prstGeom>
          <a:solidFill>
            <a:srgbClr val="FFFFFF"/>
          </a:solidFill>
          <a:ln w="12700">
            <a:solidFill>
              <a:srgbClr val="DCE3D9"/>
            </a:solidFill>
            <a:prstDash val="solid"/>
          </a:ln>
          <a:effectLst>
            <a:outerShdw blurRad="152400" dist="63500" dir="54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pic>
        <p:nvPicPr>
          <p:cNvPr id="10" name="Image 1" descr="img/pravna7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48640" y="1948838"/>
            <a:ext cx="5285232" cy="2731724"/>
          </a:xfrm>
          <a:prstGeom prst="rect">
            <a:avLst/>
          </a:prstGeom>
        </p:spPr>
      </p:pic>
      <p:sp>
        <p:nvSpPr>
          <p:cNvPr id="11" name="Shape 7"/>
          <p:cNvSpPr/>
          <p:nvPr/>
        </p:nvSpPr>
        <p:spPr>
          <a:xfrm>
            <a:off x="6291072" y="1872299"/>
            <a:ext cx="5413248" cy="2884802"/>
          </a:xfrm>
          <a:prstGeom prst="roundRect">
            <a:avLst>
              <a:gd name="adj" fmla="val 1902"/>
            </a:avLst>
          </a:prstGeom>
          <a:solidFill>
            <a:srgbClr val="FFFFFF"/>
          </a:solidFill>
          <a:ln w="12700">
            <a:solidFill>
              <a:srgbClr val="DCE3D9"/>
            </a:solidFill>
            <a:prstDash val="solid"/>
          </a:ln>
          <a:effectLst>
            <a:outerShdw blurRad="152400" dist="63500" dir="54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pic>
        <p:nvPicPr>
          <p:cNvPr id="12" name="Image 2" descr="img/pravna8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355080" y="1936307"/>
            <a:ext cx="5285232" cy="2756786"/>
          </a:xfrm>
          <a:prstGeom prst="rect">
            <a:avLst/>
          </a:prstGeom>
        </p:spPr>
      </p:pic>
      <p:pic>
        <p:nvPicPr>
          <p:cNvPr id="13" name="Image 3" descr="ico/arrow_g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838444" y="3058668"/>
            <a:ext cx="512064" cy="512064"/>
          </a:xfrm>
          <a:prstGeom prst="rect">
            <a:avLst/>
          </a:prstGeom>
        </p:spPr>
      </p:pic>
      <p:sp>
        <p:nvSpPr>
          <p:cNvPr id="14" name="Text 8"/>
          <p:cNvSpPr/>
          <p:nvPr/>
        </p:nvSpPr>
        <p:spPr>
          <a:xfrm>
            <a:off x="548640" y="4892040"/>
            <a:ext cx="52852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50" b="1" dirty="0">
                <a:solidFill>
                  <a:srgbClr val="6C76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Prazna forma</a:t>
            </a:r>
            <a:endParaRPr lang="en-US" sz="1150" dirty="0"/>
          </a:p>
        </p:txBody>
      </p:sp>
      <p:sp>
        <p:nvSpPr>
          <p:cNvPr id="15" name="Text 9"/>
          <p:cNvSpPr/>
          <p:nvPr/>
        </p:nvSpPr>
        <p:spPr>
          <a:xfrm>
            <a:off x="6355080" y="4892040"/>
            <a:ext cx="52852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50" b="1" dirty="0">
                <a:solidFill>
                  <a:srgbClr val="2852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Posle „Popuni automatski iz teksta“</a:t>
            </a:r>
            <a:endParaRPr lang="en-US" sz="1150" dirty="0"/>
          </a:p>
        </p:txBody>
      </p:sp>
      <p:sp>
        <p:nvSpPr>
          <p:cNvPr id="16" name="Text 10"/>
          <p:cNvSpPr/>
          <p:nvPr/>
        </p:nvSpPr>
        <p:spPr>
          <a:xfrm>
            <a:off x="566928" y="5349240"/>
            <a:ext cx="1106424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177800" indent="-177800">
              <a:lnSpc>
                <a:spcPct val="102000"/>
              </a:lnSpc>
              <a:spcAft>
                <a:spcPts val="700"/>
              </a:spcAft>
              <a:buSzPct val="100000"/>
              <a:buChar char="•"/>
            </a:pPr>
            <a:r>
              <a:rPr lang="en-US" sz="1350" dirty="0">
                <a:solidFill>
                  <a:srgbClr val="2230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Korisnik unese slobodan opis slučaja; NLP modul ga analizira</a:t>
            </a:r>
            <a:endParaRPr lang="en-US" sz="1350" dirty="0"/>
          </a:p>
          <a:p>
            <a:pPr marL="177800" indent="-177800">
              <a:lnSpc>
                <a:spcPct val="102000"/>
              </a:lnSpc>
              <a:spcAft>
                <a:spcPts val="700"/>
              </a:spcAft>
              <a:buSzPct val="100000"/>
              <a:buChar char="•"/>
            </a:pPr>
            <a:r>
              <a:rPr lang="en-US" sz="1350" dirty="0">
                <a:solidFill>
                  <a:srgbClr val="2230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Automatski se popunjavaju dropdowni i checkboxovi (čl. 260–277)</a:t>
            </a:r>
            <a:endParaRPr lang="en-US" sz="1350" dirty="0"/>
          </a:p>
          <a:p>
            <a:pPr marL="177800" indent="-177800">
              <a:lnSpc>
                <a:spcPct val="102000"/>
              </a:lnSpc>
              <a:spcAft>
                <a:spcPts val="700"/>
              </a:spcAft>
              <a:buSzPct val="100000"/>
              <a:buChar char="•"/>
            </a:pPr>
            <a:r>
              <a:rPr lang="en-US" sz="1350" dirty="0">
                <a:solidFill>
                  <a:srgbClr val="2230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Iz primera: voda · veća mera · širi prostor · nehat · čl. 261 · čl. 266</a:t>
            </a:r>
            <a:endParaRPr lang="en-US" sz="135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457200"/>
            <a:ext cx="658368" cy="658368"/>
          </a:xfrm>
          <a:prstGeom prst="ellipse">
            <a:avLst/>
          </a:prstGeom>
          <a:solidFill>
            <a:srgbClr val="285238"/>
          </a:solidFill>
          <a:ln/>
          <a:effectLst>
            <a:outerShdw blurRad="101600" dist="38100" dir="54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pic>
        <p:nvPicPr>
          <p:cNvPr id="3" name="Image 0" descr="ico/list_g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76656" y="630936"/>
            <a:ext cx="310896" cy="310896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325880" y="457200"/>
            <a:ext cx="7772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50" b="1" kern="0" spc="200" dirty="0">
                <a:solidFill>
                  <a:srgbClr val="C8A2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CELINA 4 · METAPODACI I ČINJENICE</a:t>
            </a:r>
            <a:endParaRPr lang="en-US" sz="1150" dirty="0"/>
          </a:p>
        </p:txBody>
      </p:sp>
      <p:sp>
        <p:nvSpPr>
          <p:cNvPr id="5" name="Text 2"/>
          <p:cNvSpPr/>
          <p:nvPr/>
        </p:nvSpPr>
        <p:spPr>
          <a:xfrm>
            <a:off x="1307592" y="713232"/>
            <a:ext cx="87782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700" b="1" dirty="0">
                <a:solidFill>
                  <a:srgbClr val="14241F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Ekstrahovani podaci + ručno ažuriranje</a:t>
            </a:r>
            <a:endParaRPr lang="en-US" sz="2700" dirty="0"/>
          </a:p>
        </p:txBody>
      </p:sp>
      <p:sp>
        <p:nvSpPr>
          <p:cNvPr id="6" name="Shape 3"/>
          <p:cNvSpPr/>
          <p:nvPr/>
        </p:nvSpPr>
        <p:spPr>
          <a:xfrm>
            <a:off x="8668512" y="512064"/>
            <a:ext cx="3017520" cy="420624"/>
          </a:xfrm>
          <a:prstGeom prst="roundRect">
            <a:avLst>
              <a:gd name="adj" fmla="val 50000"/>
            </a:avLst>
          </a:prstGeom>
          <a:solidFill>
            <a:srgbClr val="F1F5EE"/>
          </a:solidFill>
          <a:ln w="12700">
            <a:solidFill>
              <a:srgbClr val="DCE3D9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7" name="Shape 4"/>
          <p:cNvSpPr/>
          <p:nvPr/>
        </p:nvSpPr>
        <p:spPr>
          <a:xfrm>
            <a:off x="8833104" y="649224"/>
            <a:ext cx="146304" cy="146304"/>
          </a:xfrm>
          <a:prstGeom prst="ellipse">
            <a:avLst/>
          </a:prstGeom>
          <a:solidFill>
            <a:srgbClr val="C8A24B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8" name="Text 5"/>
          <p:cNvSpPr/>
          <p:nvPr/>
        </p:nvSpPr>
        <p:spPr>
          <a:xfrm>
            <a:off x="9052560" y="512064"/>
            <a:ext cx="25146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sr-Latn-RS" sz="1150" b="1" dirty="0">
                <a:solidFill>
                  <a:srgbClr val="2230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Nikola Janković</a:t>
            </a:r>
            <a:r>
              <a:rPr lang="en-US" sz="1150" b="1" dirty="0">
                <a:solidFill>
                  <a:srgbClr val="2230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· Odluke, NLP, CBR</a:t>
            </a:r>
            <a:endParaRPr lang="en-US" sz="1150" dirty="0"/>
          </a:p>
        </p:txBody>
      </p:sp>
      <p:sp>
        <p:nvSpPr>
          <p:cNvPr id="9" name="Text 6"/>
          <p:cNvSpPr/>
          <p:nvPr/>
        </p:nvSpPr>
        <p:spPr>
          <a:xfrm>
            <a:off x="566928" y="1737360"/>
            <a:ext cx="4617720" cy="3383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177800" indent="-177800">
              <a:lnSpc>
                <a:spcPct val="102000"/>
              </a:lnSpc>
              <a:spcAft>
                <a:spcPts val="1000"/>
              </a:spcAft>
              <a:buSzPct val="100000"/>
              <a:buChar char="•"/>
            </a:pPr>
            <a:r>
              <a:rPr lang="en-US" sz="1360" dirty="0">
                <a:solidFill>
                  <a:srgbClr val="2230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Metapodaci: broj predmeta, sud, datum, sudije, zapisničar, stranke</a:t>
            </a:r>
            <a:endParaRPr lang="en-US" sz="1360" dirty="0"/>
          </a:p>
          <a:p>
            <a:pPr marL="177800" indent="-177800">
              <a:lnSpc>
                <a:spcPct val="102000"/>
              </a:lnSpc>
              <a:spcAft>
                <a:spcPts val="1000"/>
              </a:spcAft>
              <a:buSzPct val="100000"/>
              <a:buChar char="•"/>
            </a:pPr>
            <a:r>
              <a:rPr lang="en-US" sz="1360" dirty="0">
                <a:solidFill>
                  <a:srgbClr val="2230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Prekršeni članovi (KZ) i pravne činjenice za rasuđivanje</a:t>
            </a:r>
            <a:endParaRPr lang="en-US" sz="1360" dirty="0"/>
          </a:p>
          <a:p>
            <a:pPr marL="177800" indent="-177800">
              <a:lnSpc>
                <a:spcPct val="102000"/>
              </a:lnSpc>
              <a:spcAft>
                <a:spcPts val="1000"/>
              </a:spcAft>
              <a:buSzPct val="100000"/>
              <a:buChar char="•"/>
            </a:pPr>
            <a:r>
              <a:rPr lang="en-US" sz="1360" dirty="0">
                <a:solidFill>
                  <a:srgbClr val="2230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Činjenice: pollutionTarget, substanceType, intent, substanceQuantityM3 …</a:t>
            </a:r>
            <a:endParaRPr lang="en-US" sz="1360" dirty="0"/>
          </a:p>
          <a:p>
            <a:pPr marL="177800" indent="-177800">
              <a:lnSpc>
                <a:spcPct val="102000"/>
              </a:lnSpc>
              <a:spcAft>
                <a:spcPts val="1000"/>
              </a:spcAft>
              <a:buSzPct val="100000"/>
              <a:buChar char="•"/>
            </a:pPr>
            <a:r>
              <a:rPr lang="en-US" sz="1360" dirty="0">
                <a:solidFill>
                  <a:srgbClr val="2230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Vrednosti su tipizirane (enum / broj / boolean)</a:t>
            </a:r>
            <a:endParaRPr lang="en-US" sz="1360" dirty="0"/>
          </a:p>
          <a:p>
            <a:pPr marL="177800" indent="-177800">
              <a:lnSpc>
                <a:spcPct val="102000"/>
              </a:lnSpc>
              <a:spcAft>
                <a:spcPts val="1000"/>
              </a:spcAft>
              <a:buSzPct val="100000"/>
              <a:buChar char="•"/>
            </a:pPr>
            <a:r>
              <a:rPr lang="en-US" sz="1360" dirty="0">
                <a:solidFill>
                  <a:srgbClr val="2230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„Ažuriraj ekstrahovane podatke“ — ručna korekcija auto-rezultata</a:t>
            </a:r>
            <a:endParaRPr lang="en-US" sz="1360" dirty="0"/>
          </a:p>
        </p:txBody>
      </p:sp>
      <p:sp>
        <p:nvSpPr>
          <p:cNvPr id="10" name="Shape 7"/>
          <p:cNvSpPr/>
          <p:nvPr/>
        </p:nvSpPr>
        <p:spPr>
          <a:xfrm>
            <a:off x="566928" y="5212080"/>
            <a:ext cx="4572000" cy="914400"/>
          </a:xfrm>
          <a:prstGeom prst="roundRect">
            <a:avLst>
              <a:gd name="adj" fmla="val 10000"/>
            </a:avLst>
          </a:prstGeom>
          <a:solidFill>
            <a:srgbClr val="F3E9CF"/>
          </a:solidFill>
          <a:ln w="12700">
            <a:solidFill>
              <a:srgbClr val="E3D29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1" name="Text 8"/>
          <p:cNvSpPr/>
          <p:nvPr/>
        </p:nvSpPr>
        <p:spPr>
          <a:xfrm>
            <a:off x="749808" y="5285232"/>
            <a:ext cx="4206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30" dirty="0">
                <a:solidFill>
                  <a:srgbClr val="6E57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Ekstrakcija je automatizovana, ali uvek uz mogućnost </a:t>
            </a:r>
            <a:r>
              <a:rPr lang="en-US" sz="1230" dirty="0" err="1">
                <a:solidFill>
                  <a:srgbClr val="6E57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ručne</a:t>
            </a:r>
            <a:r>
              <a:rPr lang="en-US" sz="1230" dirty="0">
                <a:solidFill>
                  <a:srgbClr val="6E57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230" dirty="0" err="1">
                <a:solidFill>
                  <a:srgbClr val="6E57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ispravke</a:t>
            </a:r>
            <a:r>
              <a:rPr lang="en-US" sz="1230" dirty="0">
                <a:solidFill>
                  <a:srgbClr val="6E57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</a:t>
            </a:r>
            <a:endParaRPr lang="en-US" sz="1230" dirty="0"/>
          </a:p>
        </p:txBody>
      </p:sp>
      <p:sp>
        <p:nvSpPr>
          <p:cNvPr id="12" name="Shape 9"/>
          <p:cNvSpPr/>
          <p:nvPr/>
        </p:nvSpPr>
        <p:spPr>
          <a:xfrm>
            <a:off x="5330952" y="2585051"/>
            <a:ext cx="6391656" cy="3105219"/>
          </a:xfrm>
          <a:prstGeom prst="roundRect">
            <a:avLst>
              <a:gd name="adj" fmla="val 1767"/>
            </a:avLst>
          </a:prstGeom>
          <a:solidFill>
            <a:srgbClr val="FFFFFF"/>
          </a:solidFill>
          <a:ln w="12700">
            <a:solidFill>
              <a:srgbClr val="DCE3D9"/>
            </a:solidFill>
            <a:prstDash val="solid"/>
          </a:ln>
          <a:effectLst>
            <a:outerShdw blurRad="152400" dist="63500" dir="54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pic>
        <p:nvPicPr>
          <p:cNvPr id="13" name="Image 1" descr="img/pravna12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394960" y="2649059"/>
            <a:ext cx="6263640" cy="2977203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457200"/>
            <a:ext cx="658368" cy="658368"/>
          </a:xfrm>
          <a:prstGeom prst="ellipse">
            <a:avLst/>
          </a:prstGeom>
          <a:solidFill>
            <a:srgbClr val="285238"/>
          </a:solidFill>
          <a:ln/>
          <a:effectLst>
            <a:outerShdw blurRad="101600" dist="38100" dir="54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pic>
        <p:nvPicPr>
          <p:cNvPr id="3" name="Image 0" descr="ico/db_g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76656" y="630936"/>
            <a:ext cx="310896" cy="310896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325880" y="457200"/>
            <a:ext cx="7772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50" b="1" kern="0" spc="200" dirty="0">
                <a:solidFill>
                  <a:srgbClr val="C8A2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CELINA 6 · CBR</a:t>
            </a:r>
            <a:endParaRPr lang="en-US" sz="1150" dirty="0"/>
          </a:p>
        </p:txBody>
      </p:sp>
      <p:sp>
        <p:nvSpPr>
          <p:cNvPr id="5" name="Text 2"/>
          <p:cNvSpPr/>
          <p:nvPr/>
        </p:nvSpPr>
        <p:spPr>
          <a:xfrm>
            <a:off x="1307592" y="713232"/>
            <a:ext cx="87782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700" b="1" dirty="0">
                <a:solidFill>
                  <a:srgbClr val="14241F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Baza slučajeva i ključne činjenice</a:t>
            </a:r>
            <a:endParaRPr lang="en-US" sz="2700" dirty="0"/>
          </a:p>
        </p:txBody>
      </p:sp>
      <p:sp>
        <p:nvSpPr>
          <p:cNvPr id="6" name="Shape 3"/>
          <p:cNvSpPr/>
          <p:nvPr/>
        </p:nvSpPr>
        <p:spPr>
          <a:xfrm>
            <a:off x="8668512" y="512064"/>
            <a:ext cx="3017520" cy="420624"/>
          </a:xfrm>
          <a:prstGeom prst="roundRect">
            <a:avLst>
              <a:gd name="adj" fmla="val 50000"/>
            </a:avLst>
          </a:prstGeom>
          <a:solidFill>
            <a:srgbClr val="F1F5EE"/>
          </a:solidFill>
          <a:ln w="12700">
            <a:solidFill>
              <a:srgbClr val="DCE3D9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7" name="Shape 4"/>
          <p:cNvSpPr/>
          <p:nvPr/>
        </p:nvSpPr>
        <p:spPr>
          <a:xfrm>
            <a:off x="8833104" y="649224"/>
            <a:ext cx="146304" cy="146304"/>
          </a:xfrm>
          <a:prstGeom prst="ellipse">
            <a:avLst/>
          </a:prstGeom>
          <a:solidFill>
            <a:srgbClr val="C8A24B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8" name="Text 5"/>
          <p:cNvSpPr/>
          <p:nvPr/>
        </p:nvSpPr>
        <p:spPr>
          <a:xfrm>
            <a:off x="9052560" y="512064"/>
            <a:ext cx="25146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sr-Latn-RS" sz="1150" b="1" dirty="0">
                <a:solidFill>
                  <a:srgbClr val="2230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Nikola Janković</a:t>
            </a:r>
            <a:r>
              <a:rPr lang="en-US" sz="1150" b="1" dirty="0">
                <a:solidFill>
                  <a:srgbClr val="2230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· Odluke, NLP, CBR</a:t>
            </a:r>
            <a:endParaRPr lang="en-US" sz="1150" dirty="0"/>
          </a:p>
        </p:txBody>
      </p:sp>
      <p:sp>
        <p:nvSpPr>
          <p:cNvPr id="9" name="Text 6"/>
          <p:cNvSpPr/>
          <p:nvPr/>
        </p:nvSpPr>
        <p:spPr>
          <a:xfrm>
            <a:off x="566928" y="1737360"/>
            <a:ext cx="4617720" cy="32918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177800" indent="-177800">
              <a:lnSpc>
                <a:spcPct val="102000"/>
              </a:lnSpc>
              <a:spcAft>
                <a:spcPts val="900"/>
              </a:spcAft>
              <a:buSzPct val="100000"/>
              <a:buChar char="•"/>
            </a:pPr>
            <a:r>
              <a:rPr lang="en-US" sz="1350" dirty="0">
                <a:solidFill>
                  <a:srgbClr val="2230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Svaki slučaj opisan ključnim činjenicama dobijenim ekstrakcijom</a:t>
            </a:r>
            <a:endParaRPr lang="en-US" sz="1350" dirty="0"/>
          </a:p>
          <a:p>
            <a:pPr marL="177800" indent="-177800">
              <a:lnSpc>
                <a:spcPct val="102000"/>
              </a:lnSpc>
              <a:spcAft>
                <a:spcPts val="900"/>
              </a:spcAft>
              <a:buSzPct val="100000"/>
              <a:buChar char="•"/>
            </a:pPr>
            <a:r>
              <a:rPr lang="en-US" sz="1350" dirty="0">
                <a:solidFill>
                  <a:srgbClr val="2230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Zadatak traži ≥ 7 činjenica — mi koristimo 13</a:t>
            </a:r>
            <a:endParaRPr lang="en-US" sz="1350" dirty="0"/>
          </a:p>
          <a:p>
            <a:pPr marL="177800" indent="-177800">
              <a:lnSpc>
                <a:spcPct val="102000"/>
              </a:lnSpc>
              <a:spcAft>
                <a:spcPts val="900"/>
              </a:spcAft>
              <a:buSzPct val="100000"/>
              <a:buChar char="•"/>
            </a:pPr>
            <a:r>
              <a:rPr lang="en-US" sz="1350" dirty="0">
                <a:solidFill>
                  <a:srgbClr val="2230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Atributi: prekršeni član, vrsta i dužina kazne, tip supstance,</a:t>
            </a:r>
            <a:endParaRPr lang="en-US" sz="1350" dirty="0"/>
          </a:p>
          <a:p>
            <a:pPr marL="177800" indent="-177800">
              <a:lnSpc>
                <a:spcPct val="102000"/>
              </a:lnSpc>
              <a:spcAft>
                <a:spcPts val="900"/>
              </a:spcAft>
              <a:buSzPct val="100000"/>
              <a:buChar char="•"/>
            </a:pPr>
            <a:r>
              <a:rPr lang="en-US" sz="1350" dirty="0" err="1">
                <a:solidFill>
                  <a:srgbClr val="2230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cilj</a:t>
            </a:r>
            <a:r>
              <a:rPr lang="en-US" sz="1350" dirty="0">
                <a:solidFill>
                  <a:srgbClr val="2230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zagađenja, šteta, namera, količina supstance …</a:t>
            </a:r>
            <a:endParaRPr lang="en-US" sz="1350" dirty="0"/>
          </a:p>
          <a:p>
            <a:pPr marL="177800" indent="-177800">
              <a:lnSpc>
                <a:spcPct val="102000"/>
              </a:lnSpc>
              <a:spcAft>
                <a:spcPts val="900"/>
              </a:spcAft>
              <a:buSzPct val="100000"/>
              <a:buChar char="•"/>
            </a:pPr>
            <a:r>
              <a:rPr lang="en-US" sz="1350" dirty="0">
                <a:solidFill>
                  <a:srgbClr val="2230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Čuvanje u PostgreSQL; izvor: USER unos ili postojeće odluke</a:t>
            </a:r>
            <a:endParaRPr lang="en-US" sz="1350" dirty="0"/>
          </a:p>
        </p:txBody>
      </p:sp>
      <p:sp>
        <p:nvSpPr>
          <p:cNvPr id="10" name="Shape 7"/>
          <p:cNvSpPr/>
          <p:nvPr/>
        </p:nvSpPr>
        <p:spPr>
          <a:xfrm>
            <a:off x="566928" y="5212080"/>
            <a:ext cx="2286000" cy="914400"/>
          </a:xfrm>
          <a:prstGeom prst="roundRect">
            <a:avLst>
              <a:gd name="adj" fmla="val 8000"/>
            </a:avLst>
          </a:prstGeom>
          <a:solidFill>
            <a:srgbClr val="F1F5EE"/>
          </a:solidFill>
          <a:ln w="12700">
            <a:solidFill>
              <a:srgbClr val="DCE3D9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1" name="Text 8"/>
          <p:cNvSpPr/>
          <p:nvPr/>
        </p:nvSpPr>
        <p:spPr>
          <a:xfrm>
            <a:off x="676656" y="5285232"/>
            <a:ext cx="2066544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600" b="1" dirty="0">
                <a:solidFill>
                  <a:srgbClr val="285238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13</a:t>
            </a:r>
            <a:endParaRPr lang="en-US" sz="2600" dirty="0"/>
          </a:p>
        </p:txBody>
      </p:sp>
      <p:sp>
        <p:nvSpPr>
          <p:cNvPr id="12" name="Text 9"/>
          <p:cNvSpPr/>
          <p:nvPr/>
        </p:nvSpPr>
        <p:spPr>
          <a:xfrm>
            <a:off x="685800" y="5760720"/>
            <a:ext cx="206654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100" dirty="0">
                <a:solidFill>
                  <a:srgbClr val="6C76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ključnih činjenica</a:t>
            </a:r>
            <a:endParaRPr lang="en-US" sz="1100" dirty="0"/>
          </a:p>
        </p:txBody>
      </p:sp>
      <p:sp>
        <p:nvSpPr>
          <p:cNvPr id="13" name="Shape 10"/>
          <p:cNvSpPr/>
          <p:nvPr/>
        </p:nvSpPr>
        <p:spPr>
          <a:xfrm>
            <a:off x="2971800" y="5212080"/>
            <a:ext cx="2286000" cy="914400"/>
          </a:xfrm>
          <a:prstGeom prst="roundRect">
            <a:avLst>
              <a:gd name="adj" fmla="val 8000"/>
            </a:avLst>
          </a:prstGeom>
          <a:solidFill>
            <a:srgbClr val="F3E9CF"/>
          </a:solidFill>
          <a:ln w="12700">
            <a:solidFill>
              <a:srgbClr val="DCE3D9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4" name="Text 11"/>
          <p:cNvSpPr/>
          <p:nvPr/>
        </p:nvSpPr>
        <p:spPr>
          <a:xfrm>
            <a:off x="3081528" y="5285232"/>
            <a:ext cx="2066544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600" b="1" dirty="0">
                <a:solidFill>
                  <a:srgbClr val="9A7B1F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≥ 7</a:t>
            </a:r>
            <a:endParaRPr lang="en-US" sz="2600" dirty="0"/>
          </a:p>
        </p:txBody>
      </p:sp>
      <p:sp>
        <p:nvSpPr>
          <p:cNvPr id="15" name="Text 12"/>
          <p:cNvSpPr/>
          <p:nvPr/>
        </p:nvSpPr>
        <p:spPr>
          <a:xfrm>
            <a:off x="3090672" y="5760720"/>
            <a:ext cx="206654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100" dirty="0">
                <a:solidFill>
                  <a:srgbClr val="6C76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traženo zadatkom</a:t>
            </a:r>
            <a:endParaRPr lang="en-US" sz="1100" dirty="0"/>
          </a:p>
        </p:txBody>
      </p:sp>
      <p:sp>
        <p:nvSpPr>
          <p:cNvPr id="16" name="Shape 13"/>
          <p:cNvSpPr/>
          <p:nvPr/>
        </p:nvSpPr>
        <p:spPr>
          <a:xfrm>
            <a:off x="5330952" y="2458654"/>
            <a:ext cx="6391656" cy="3358012"/>
          </a:xfrm>
          <a:prstGeom prst="roundRect">
            <a:avLst>
              <a:gd name="adj" fmla="val 1634"/>
            </a:avLst>
          </a:prstGeom>
          <a:solidFill>
            <a:srgbClr val="FFFFFF"/>
          </a:solidFill>
          <a:ln w="12700">
            <a:solidFill>
              <a:srgbClr val="DCE3D9"/>
            </a:solidFill>
            <a:prstDash val="solid"/>
          </a:ln>
          <a:effectLst>
            <a:outerShdw blurRad="152400" dist="63500" dir="54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pic>
        <p:nvPicPr>
          <p:cNvPr id="17" name="Image 1" descr="img/pravna6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394960" y="2522662"/>
            <a:ext cx="6263640" cy="3229996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457200"/>
            <a:ext cx="658368" cy="658368"/>
          </a:xfrm>
          <a:prstGeom prst="ellipse">
            <a:avLst/>
          </a:prstGeom>
          <a:solidFill>
            <a:srgbClr val="285238"/>
          </a:solidFill>
          <a:ln/>
          <a:effectLst>
            <a:outerShdw blurRad="101600" dist="38100" dir="54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pic>
        <p:nvPicPr>
          <p:cNvPr id="3" name="Image 0" descr="ico/clone_g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76656" y="630936"/>
            <a:ext cx="310896" cy="310896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325880" y="457200"/>
            <a:ext cx="7772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50" b="1" kern="0" spc="200" dirty="0">
                <a:solidFill>
                  <a:srgbClr val="C8A2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CELINA 6 · SLIČNOST</a:t>
            </a:r>
            <a:endParaRPr lang="en-US" sz="1150" dirty="0"/>
          </a:p>
        </p:txBody>
      </p:sp>
      <p:sp>
        <p:nvSpPr>
          <p:cNvPr id="5" name="Text 2"/>
          <p:cNvSpPr/>
          <p:nvPr/>
        </p:nvSpPr>
        <p:spPr>
          <a:xfrm>
            <a:off x="1307592" y="713232"/>
            <a:ext cx="87782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700" b="1" dirty="0">
                <a:solidFill>
                  <a:srgbClr val="14241F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Funkcije sličnosti i kNN pretraga</a:t>
            </a:r>
            <a:endParaRPr lang="en-US" sz="2700" dirty="0"/>
          </a:p>
        </p:txBody>
      </p:sp>
      <p:sp>
        <p:nvSpPr>
          <p:cNvPr id="6" name="Shape 3"/>
          <p:cNvSpPr/>
          <p:nvPr/>
        </p:nvSpPr>
        <p:spPr>
          <a:xfrm>
            <a:off x="8668512" y="512064"/>
            <a:ext cx="3017520" cy="420624"/>
          </a:xfrm>
          <a:prstGeom prst="roundRect">
            <a:avLst>
              <a:gd name="adj" fmla="val 50000"/>
            </a:avLst>
          </a:prstGeom>
          <a:solidFill>
            <a:srgbClr val="F1F5EE"/>
          </a:solidFill>
          <a:ln w="12700">
            <a:solidFill>
              <a:srgbClr val="DCE3D9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7" name="Shape 4"/>
          <p:cNvSpPr/>
          <p:nvPr/>
        </p:nvSpPr>
        <p:spPr>
          <a:xfrm>
            <a:off x="8833104" y="649224"/>
            <a:ext cx="146304" cy="146304"/>
          </a:xfrm>
          <a:prstGeom prst="ellipse">
            <a:avLst/>
          </a:prstGeom>
          <a:solidFill>
            <a:srgbClr val="C8A24B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8" name="Text 5"/>
          <p:cNvSpPr/>
          <p:nvPr/>
        </p:nvSpPr>
        <p:spPr>
          <a:xfrm>
            <a:off x="9052560" y="512064"/>
            <a:ext cx="25146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sr-Latn-RS" sz="1150" b="1" dirty="0">
                <a:solidFill>
                  <a:srgbClr val="2230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Nikola Janković</a:t>
            </a:r>
            <a:r>
              <a:rPr lang="en-US" sz="1150" b="1" dirty="0">
                <a:solidFill>
                  <a:srgbClr val="2230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· Odluke, NLP, CBR</a:t>
            </a:r>
            <a:endParaRPr lang="en-US" sz="1150" dirty="0"/>
          </a:p>
        </p:txBody>
      </p:sp>
      <p:sp>
        <p:nvSpPr>
          <p:cNvPr id="9" name="Shape 6"/>
          <p:cNvSpPr/>
          <p:nvPr/>
        </p:nvSpPr>
        <p:spPr>
          <a:xfrm>
            <a:off x="6062472" y="2089731"/>
            <a:ext cx="5660136" cy="3684379"/>
          </a:xfrm>
          <a:prstGeom prst="roundRect">
            <a:avLst>
              <a:gd name="adj" fmla="val 1489"/>
            </a:avLst>
          </a:prstGeom>
          <a:solidFill>
            <a:srgbClr val="FFFFFF"/>
          </a:solidFill>
          <a:ln w="12700">
            <a:solidFill>
              <a:srgbClr val="DCE3D9"/>
            </a:solidFill>
            <a:prstDash val="solid"/>
          </a:ln>
          <a:effectLst>
            <a:outerShdw blurRad="152400" dist="63500" dir="54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pic>
        <p:nvPicPr>
          <p:cNvPr id="10" name="Image 1" descr="img/crop_cbr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126480" y="2153739"/>
            <a:ext cx="5532120" cy="3556363"/>
          </a:xfrm>
          <a:prstGeom prst="rect">
            <a:avLst/>
          </a:prstGeom>
        </p:spPr>
      </p:pic>
      <p:sp>
        <p:nvSpPr>
          <p:cNvPr id="11" name="Text 7"/>
          <p:cNvSpPr/>
          <p:nvPr/>
        </p:nvSpPr>
        <p:spPr>
          <a:xfrm>
            <a:off x="566928" y="1828800"/>
            <a:ext cx="521208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177800" indent="-177800">
              <a:lnSpc>
                <a:spcPct val="102000"/>
              </a:lnSpc>
              <a:spcAft>
                <a:spcPts val="1000"/>
              </a:spcAft>
              <a:buSzPct val="100000"/>
              <a:buChar char="•"/>
            </a:pPr>
            <a:r>
              <a:rPr lang="en-US" sz="1360" dirty="0">
                <a:solidFill>
                  <a:srgbClr val="2230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Lokalne funkcije sličnosti po tipu atributa:</a:t>
            </a:r>
            <a:endParaRPr lang="en-US" sz="1360" dirty="0"/>
          </a:p>
          <a:p>
            <a:pPr marL="177800" indent="-177800">
              <a:lnSpc>
                <a:spcPct val="102000"/>
              </a:lnSpc>
              <a:spcAft>
                <a:spcPts val="1000"/>
              </a:spcAft>
              <a:buSzPct val="100000"/>
              <a:buChar char="•"/>
            </a:pPr>
            <a:r>
              <a:rPr lang="en-US" sz="1360" dirty="0" err="1">
                <a:solidFill>
                  <a:srgbClr val="2230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enumeracija</a:t>
            </a:r>
            <a:r>
              <a:rPr lang="en-US" sz="1360" dirty="0">
                <a:solidFill>
                  <a:srgbClr val="2230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(podudaranje), broj (razlika m³), boolean</a:t>
            </a:r>
            <a:endParaRPr lang="en-US" sz="1360" dirty="0"/>
          </a:p>
          <a:p>
            <a:pPr marL="177800" indent="-177800">
              <a:lnSpc>
                <a:spcPct val="102000"/>
              </a:lnSpc>
              <a:spcAft>
                <a:spcPts val="1000"/>
              </a:spcAft>
              <a:buSzPct val="100000"/>
              <a:buChar char="•"/>
            </a:pPr>
            <a:r>
              <a:rPr lang="en-US" sz="1360" dirty="0">
                <a:solidFill>
                  <a:srgbClr val="2230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Agregacija lokalnih u globalnu sličnost slučaja</a:t>
            </a:r>
            <a:endParaRPr lang="en-US" sz="1360" dirty="0"/>
          </a:p>
          <a:p>
            <a:pPr marL="177800" indent="-177800">
              <a:lnSpc>
                <a:spcPct val="102000"/>
              </a:lnSpc>
              <a:spcAft>
                <a:spcPts val="1000"/>
              </a:spcAft>
              <a:buSzPct val="100000"/>
              <a:buChar char="•"/>
            </a:pPr>
            <a:r>
              <a:rPr lang="en-US" sz="1360" dirty="0">
                <a:solidFill>
                  <a:srgbClr val="2230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kNN bira najbliže slučajeve (100%, 75%, 60% …)</a:t>
            </a:r>
            <a:endParaRPr lang="en-US" sz="1360" dirty="0"/>
          </a:p>
          <a:p>
            <a:pPr marL="177800" indent="-177800">
              <a:lnSpc>
                <a:spcPct val="102000"/>
              </a:lnSpc>
              <a:spcAft>
                <a:spcPts val="1000"/>
              </a:spcAft>
              <a:buSzPct val="100000"/>
              <a:buChar char="•"/>
            </a:pPr>
            <a:r>
              <a:rPr lang="en-US" sz="1360" dirty="0">
                <a:solidFill>
                  <a:srgbClr val="2230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Ishod sličnih slučajeva = predlog kazne (pristup nalik jColibri)</a:t>
            </a:r>
            <a:endParaRPr lang="en-US" sz="1360" dirty="0"/>
          </a:p>
        </p:txBody>
      </p:sp>
      <p:sp>
        <p:nvSpPr>
          <p:cNvPr id="12" name="Shape 8"/>
          <p:cNvSpPr/>
          <p:nvPr/>
        </p:nvSpPr>
        <p:spPr>
          <a:xfrm>
            <a:off x="566928" y="5212080"/>
            <a:ext cx="5257800" cy="960120"/>
          </a:xfrm>
          <a:prstGeom prst="roundRect">
            <a:avLst>
              <a:gd name="adj" fmla="val 9524"/>
            </a:avLst>
          </a:prstGeom>
          <a:solidFill>
            <a:srgbClr val="F1F5EE"/>
          </a:solidFill>
          <a:ln w="12700">
            <a:solidFill>
              <a:srgbClr val="DCE3D9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pic>
        <p:nvPicPr>
          <p:cNvPr id="13" name="Image 2" descr="ico/search_g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68096" y="5486400"/>
            <a:ext cx="365760" cy="365760"/>
          </a:xfrm>
          <a:prstGeom prst="rect">
            <a:avLst/>
          </a:prstGeom>
        </p:spPr>
      </p:pic>
      <p:sp>
        <p:nvSpPr>
          <p:cNvPr id="14" name="Text 9"/>
          <p:cNvSpPr/>
          <p:nvPr/>
        </p:nvSpPr>
        <p:spPr>
          <a:xfrm>
            <a:off x="1261872" y="5285232"/>
            <a:ext cx="44348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30" dirty="0">
                <a:solidFill>
                  <a:srgbClr val="2230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Najsličniji predmet И–564/24 (100%) → ishod 3 meseca zatvora služi kao orijentir za kaznu.</a:t>
            </a:r>
            <a:endParaRPr lang="en-US" sz="123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457200"/>
            <a:ext cx="658368" cy="658368"/>
          </a:xfrm>
          <a:prstGeom prst="ellipse">
            <a:avLst/>
          </a:prstGeom>
          <a:solidFill>
            <a:srgbClr val="285238"/>
          </a:solidFill>
          <a:ln/>
          <a:effectLst>
            <a:outerShdw blurRad="101600" dist="38100" dir="54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pic>
        <p:nvPicPr>
          <p:cNvPr id="3" name="Image 0" descr="ico/link_g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76656" y="630936"/>
            <a:ext cx="310896" cy="310896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325880" y="457200"/>
            <a:ext cx="7772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50" b="1" kern="0" spc="200" dirty="0">
                <a:solidFill>
                  <a:srgbClr val="C8A2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CELINA 7 · PRIKAZ I NAVIGACIJA</a:t>
            </a:r>
            <a:endParaRPr lang="en-US" sz="1150" dirty="0"/>
          </a:p>
        </p:txBody>
      </p:sp>
      <p:sp>
        <p:nvSpPr>
          <p:cNvPr id="5" name="Text 2"/>
          <p:cNvSpPr/>
          <p:nvPr/>
        </p:nvSpPr>
        <p:spPr>
          <a:xfrm>
            <a:off x="1307592" y="713232"/>
            <a:ext cx="87782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700" b="1" dirty="0">
                <a:solidFill>
                  <a:srgbClr val="14241F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Navigacija kroz anotirane reference</a:t>
            </a:r>
            <a:endParaRPr lang="en-US" sz="2700" dirty="0"/>
          </a:p>
        </p:txBody>
      </p:sp>
      <p:sp>
        <p:nvSpPr>
          <p:cNvPr id="6" name="Shape 3"/>
          <p:cNvSpPr/>
          <p:nvPr/>
        </p:nvSpPr>
        <p:spPr>
          <a:xfrm>
            <a:off x="8531352" y="512064"/>
            <a:ext cx="3154680" cy="420624"/>
          </a:xfrm>
          <a:prstGeom prst="roundRect">
            <a:avLst>
              <a:gd name="adj" fmla="val 50000"/>
            </a:avLst>
          </a:prstGeom>
          <a:solidFill>
            <a:srgbClr val="F1F5EE"/>
          </a:solidFill>
          <a:ln w="12700">
            <a:solidFill>
              <a:srgbClr val="DCE3D9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7" name="Shape 4"/>
          <p:cNvSpPr/>
          <p:nvPr/>
        </p:nvSpPr>
        <p:spPr>
          <a:xfrm>
            <a:off x="8695944" y="649224"/>
            <a:ext cx="146304" cy="146304"/>
          </a:xfrm>
          <a:prstGeom prst="ellipse">
            <a:avLst/>
          </a:prstGeom>
          <a:solidFill>
            <a:srgbClr val="285238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8" name="Text 5"/>
          <p:cNvSpPr/>
          <p:nvPr/>
        </p:nvSpPr>
        <p:spPr>
          <a:xfrm>
            <a:off x="8915400" y="512064"/>
            <a:ext cx="26517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sr-Latn-RS" sz="1150" b="1" dirty="0">
                <a:solidFill>
                  <a:srgbClr val="2230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Bogdan Čiplić</a:t>
            </a:r>
            <a:r>
              <a:rPr lang="en-US" sz="1150" b="1" dirty="0">
                <a:solidFill>
                  <a:srgbClr val="2230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· Prikaz i odlučivanje</a:t>
            </a:r>
            <a:endParaRPr lang="en-US" sz="1150" dirty="0"/>
          </a:p>
        </p:txBody>
      </p:sp>
      <p:sp>
        <p:nvSpPr>
          <p:cNvPr id="9" name="Shape 6"/>
          <p:cNvSpPr/>
          <p:nvPr/>
        </p:nvSpPr>
        <p:spPr>
          <a:xfrm>
            <a:off x="491388" y="1581912"/>
            <a:ext cx="5143703" cy="5065776"/>
          </a:xfrm>
          <a:prstGeom prst="roundRect">
            <a:avLst>
              <a:gd name="adj" fmla="val 1083"/>
            </a:avLst>
          </a:prstGeom>
          <a:solidFill>
            <a:srgbClr val="FFFFFF"/>
          </a:solidFill>
          <a:ln w="12700">
            <a:solidFill>
              <a:srgbClr val="DCE3D9"/>
            </a:solidFill>
            <a:prstDash val="solid"/>
          </a:ln>
          <a:effectLst>
            <a:outerShdw blurRad="152400" dist="63500" dir="54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pic>
        <p:nvPicPr>
          <p:cNvPr id="10" name="Image 1" descr="img/pravna14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55396" y="1645920"/>
            <a:ext cx="5015687" cy="4937760"/>
          </a:xfrm>
          <a:prstGeom prst="rect">
            <a:avLst/>
          </a:prstGeom>
        </p:spPr>
      </p:pic>
      <p:sp>
        <p:nvSpPr>
          <p:cNvPr id="11" name="Text 7"/>
          <p:cNvSpPr/>
          <p:nvPr/>
        </p:nvSpPr>
        <p:spPr>
          <a:xfrm>
            <a:off x="5943600" y="1828800"/>
            <a:ext cx="5669280" cy="32918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177800" indent="-177800">
              <a:lnSpc>
                <a:spcPct val="102000"/>
              </a:lnSpc>
              <a:spcAft>
                <a:spcPts val="1100"/>
              </a:spcAft>
              <a:buSzPct val="100000"/>
              <a:buChar char="•"/>
            </a:pPr>
            <a:r>
              <a:rPr lang="en-US" sz="1400" dirty="0">
                <a:solidFill>
                  <a:srgbClr val="2230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Reference unutar teksta su klikabilne (anotirane u XML-u)</a:t>
            </a:r>
            <a:endParaRPr lang="en-US" sz="1400" dirty="0"/>
          </a:p>
          <a:p>
            <a:pPr marL="177800" indent="-177800">
              <a:lnSpc>
                <a:spcPct val="102000"/>
              </a:lnSpc>
              <a:spcAft>
                <a:spcPts val="1100"/>
              </a:spcAft>
              <a:buSzPct val="100000"/>
              <a:buChar char="•"/>
            </a:pPr>
            <a:r>
              <a:rPr lang="en-US" sz="1400" dirty="0">
                <a:solidFill>
                  <a:srgbClr val="2230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Klik na referencu → prikaz cilja sa fokusom na traženi član</a:t>
            </a:r>
            <a:endParaRPr lang="en-US" sz="1400" dirty="0"/>
          </a:p>
          <a:p>
            <a:pPr marL="177800" indent="-177800">
              <a:lnSpc>
                <a:spcPct val="102000"/>
              </a:lnSpc>
              <a:spcAft>
                <a:spcPts val="1100"/>
              </a:spcAft>
              <a:buSzPct val="100000"/>
              <a:buChar char="•"/>
            </a:pPr>
            <a:r>
              <a:rPr lang="en-US" sz="1400" dirty="0">
                <a:solidFill>
                  <a:srgbClr val="2230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Npr. „</a:t>
            </a:r>
            <a:r>
              <a:rPr lang="en-US" sz="1400" dirty="0" err="1">
                <a:solidFill>
                  <a:srgbClr val="2230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člana</a:t>
            </a:r>
            <a:r>
              <a:rPr lang="en-US" sz="1400" dirty="0">
                <a:solidFill>
                  <a:srgbClr val="2230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26</a:t>
            </a:r>
            <a:r>
              <a:rPr lang="sr-Latn-RS" sz="1400" dirty="0">
                <a:solidFill>
                  <a:srgbClr val="2230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r>
              <a:rPr lang="en-US" sz="1400" dirty="0">
                <a:solidFill>
                  <a:srgbClr val="2230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 ovog zakonika“ vodi pravo na član 260</a:t>
            </a:r>
            <a:endParaRPr lang="en-US" sz="1400" dirty="0"/>
          </a:p>
          <a:p>
            <a:pPr marL="177800" indent="-177800">
              <a:lnSpc>
                <a:spcPct val="102000"/>
              </a:lnSpc>
              <a:spcAft>
                <a:spcPts val="1100"/>
              </a:spcAft>
              <a:buSzPct val="100000"/>
              <a:buChar char="•"/>
            </a:pPr>
            <a:r>
              <a:rPr lang="en-US" sz="1400" dirty="0">
                <a:solidFill>
                  <a:srgbClr val="2230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Reference rade i unutar odluka (ka članovima zakona)</a:t>
            </a:r>
            <a:endParaRPr lang="en-US" sz="1400" dirty="0"/>
          </a:p>
          <a:p>
            <a:pPr marL="177800" indent="-177800">
              <a:lnSpc>
                <a:spcPct val="102000"/>
              </a:lnSpc>
              <a:spcAft>
                <a:spcPts val="1100"/>
              </a:spcAft>
              <a:buSzPct val="100000"/>
              <a:buChar char="•"/>
            </a:pPr>
            <a:r>
              <a:rPr lang="en-US" sz="1400" dirty="0">
                <a:solidFill>
                  <a:srgbClr val="2230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Korisnik vidi formatiran tekst sa metapodacima — ne Akoma Ntoso</a:t>
            </a:r>
            <a:endParaRPr lang="en-US" sz="1400" dirty="0"/>
          </a:p>
        </p:txBody>
      </p:sp>
      <p:sp>
        <p:nvSpPr>
          <p:cNvPr id="12" name="Shape 8"/>
          <p:cNvSpPr/>
          <p:nvPr/>
        </p:nvSpPr>
        <p:spPr>
          <a:xfrm>
            <a:off x="5943600" y="5257800"/>
            <a:ext cx="5715000" cy="1051560"/>
          </a:xfrm>
          <a:prstGeom prst="roundRect">
            <a:avLst>
              <a:gd name="adj" fmla="val 8696"/>
            </a:avLst>
          </a:prstGeom>
          <a:solidFill>
            <a:srgbClr val="F1F5EE"/>
          </a:solidFill>
          <a:ln w="12700">
            <a:solidFill>
              <a:srgbClr val="DCE3D9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pic>
        <p:nvPicPr>
          <p:cNvPr id="13" name="Image 2" descr="ico/link_g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144768" y="5532120"/>
            <a:ext cx="365760" cy="365760"/>
          </a:xfrm>
          <a:prstGeom prst="rect">
            <a:avLst/>
          </a:prstGeom>
        </p:spPr>
      </p:pic>
      <p:sp>
        <p:nvSpPr>
          <p:cNvPr id="14" name="Text 9"/>
          <p:cNvSpPr/>
          <p:nvPr/>
        </p:nvSpPr>
        <p:spPr>
          <a:xfrm>
            <a:off x="6629400" y="5349240"/>
            <a:ext cx="48463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2230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Član 261 je u fokusu (osenčen) jer se do njega došlo klikom na referencu iz drugog dela teksta.</a:t>
            </a:r>
            <a:endParaRPr lang="en-US" sz="125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457200"/>
            <a:ext cx="658368" cy="658368"/>
          </a:xfrm>
          <a:prstGeom prst="ellipse">
            <a:avLst/>
          </a:prstGeom>
          <a:solidFill>
            <a:srgbClr val="285238"/>
          </a:solidFill>
          <a:ln/>
          <a:effectLst>
            <a:outerShdw blurRad="101600" dist="38100" dir="54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pic>
        <p:nvPicPr>
          <p:cNvPr id="3" name="Image 0" descr="ico/flow_g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76656" y="630936"/>
            <a:ext cx="310896" cy="310896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325880" y="457200"/>
            <a:ext cx="7772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50" b="1" kern="0" spc="200" dirty="0">
                <a:solidFill>
                  <a:srgbClr val="C8A2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CELINA 8 · KOMBINOVANO RASUĐIVANJE</a:t>
            </a:r>
            <a:endParaRPr lang="en-US" sz="1150" dirty="0"/>
          </a:p>
        </p:txBody>
      </p:sp>
      <p:sp>
        <p:nvSpPr>
          <p:cNvPr id="5" name="Text 2"/>
          <p:cNvSpPr/>
          <p:nvPr/>
        </p:nvSpPr>
        <p:spPr>
          <a:xfrm>
            <a:off x="1307592" y="713232"/>
            <a:ext cx="87782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700" b="1" dirty="0">
                <a:solidFill>
                  <a:srgbClr val="14241F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Rasuđivanje nad korisničkim unosom</a:t>
            </a:r>
            <a:endParaRPr lang="en-US" sz="2700" dirty="0"/>
          </a:p>
        </p:txBody>
      </p:sp>
      <p:sp>
        <p:nvSpPr>
          <p:cNvPr id="6" name="Shape 3"/>
          <p:cNvSpPr/>
          <p:nvPr/>
        </p:nvSpPr>
        <p:spPr>
          <a:xfrm>
            <a:off x="8531352" y="512064"/>
            <a:ext cx="3154680" cy="420624"/>
          </a:xfrm>
          <a:prstGeom prst="roundRect">
            <a:avLst>
              <a:gd name="adj" fmla="val 50000"/>
            </a:avLst>
          </a:prstGeom>
          <a:solidFill>
            <a:srgbClr val="F1F5EE"/>
          </a:solidFill>
          <a:ln w="12700">
            <a:solidFill>
              <a:srgbClr val="DCE3D9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7" name="Shape 4"/>
          <p:cNvSpPr/>
          <p:nvPr/>
        </p:nvSpPr>
        <p:spPr>
          <a:xfrm>
            <a:off x="8695944" y="649224"/>
            <a:ext cx="146304" cy="146304"/>
          </a:xfrm>
          <a:prstGeom prst="ellipse">
            <a:avLst/>
          </a:prstGeom>
          <a:solidFill>
            <a:srgbClr val="285238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8" name="Text 5"/>
          <p:cNvSpPr/>
          <p:nvPr/>
        </p:nvSpPr>
        <p:spPr>
          <a:xfrm>
            <a:off x="8915400" y="512064"/>
            <a:ext cx="26517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sr-Latn-RS" sz="1150" b="1" dirty="0">
                <a:solidFill>
                  <a:srgbClr val="2230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Bogdan Čiplić</a:t>
            </a:r>
            <a:r>
              <a:rPr lang="en-US" sz="1150" b="1" dirty="0">
                <a:solidFill>
                  <a:srgbClr val="2230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· Prikaz i odlučivanje</a:t>
            </a:r>
            <a:endParaRPr lang="en-US" sz="1150" dirty="0"/>
          </a:p>
        </p:txBody>
      </p:sp>
      <p:sp>
        <p:nvSpPr>
          <p:cNvPr id="9" name="Text 6"/>
          <p:cNvSpPr/>
          <p:nvPr/>
        </p:nvSpPr>
        <p:spPr>
          <a:xfrm>
            <a:off x="566928" y="1737360"/>
            <a:ext cx="3977640" cy="32918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177800" indent="-177800">
              <a:lnSpc>
                <a:spcPct val="102000"/>
              </a:lnSpc>
              <a:spcAft>
                <a:spcPts val="900"/>
              </a:spcAft>
              <a:buSzPct val="100000"/>
              <a:buChar char="•"/>
            </a:pPr>
            <a:r>
              <a:rPr lang="en-US" sz="1320" dirty="0">
                <a:solidFill>
                  <a:srgbClr val="2230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Korisnik unese opis novog slučaja</a:t>
            </a:r>
            <a:endParaRPr lang="en-US" sz="1320" dirty="0"/>
          </a:p>
          <a:p>
            <a:pPr marL="177800" indent="-177800">
              <a:lnSpc>
                <a:spcPct val="102000"/>
              </a:lnSpc>
              <a:spcAft>
                <a:spcPts val="900"/>
              </a:spcAft>
              <a:buSzPct val="100000"/>
              <a:buChar char="•"/>
            </a:pPr>
            <a:r>
              <a:rPr lang="en-US" sz="1320" dirty="0">
                <a:solidFill>
                  <a:srgbClr val="2230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Paralelno: po pravilima (dr-device) i po slučajevima (CBR)</a:t>
            </a:r>
            <a:endParaRPr lang="en-US" sz="1320" dirty="0"/>
          </a:p>
          <a:p>
            <a:pPr marL="177800" indent="-177800">
              <a:lnSpc>
                <a:spcPct val="102000"/>
              </a:lnSpc>
              <a:spcAft>
                <a:spcPts val="900"/>
              </a:spcAft>
              <a:buSzPct val="100000"/>
              <a:buChar char="•"/>
            </a:pPr>
            <a:r>
              <a:rPr lang="en-US" sz="1320" dirty="0">
                <a:solidFill>
                  <a:srgbClr val="2230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Sistem nudi predlog vrste i visine kazne + obrazloženje</a:t>
            </a:r>
            <a:endParaRPr lang="en-US" sz="1320" dirty="0"/>
          </a:p>
          <a:p>
            <a:pPr marL="177800" indent="-177800">
              <a:lnSpc>
                <a:spcPct val="102000"/>
              </a:lnSpc>
              <a:spcAft>
                <a:spcPts val="900"/>
              </a:spcAft>
              <a:buSzPct val="100000"/>
              <a:buChar char="•"/>
            </a:pPr>
            <a:r>
              <a:rPr lang="en-US" sz="1320" dirty="0">
                <a:solidFill>
                  <a:srgbClr val="2230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Korisnik bira vrstu kazne i dužinu, pa „Sačuvaj slučaj“</a:t>
            </a:r>
            <a:endParaRPr lang="en-US" sz="1320" dirty="0"/>
          </a:p>
          <a:p>
            <a:pPr marL="177800" indent="-177800">
              <a:lnSpc>
                <a:spcPct val="102000"/>
              </a:lnSpc>
              <a:spcAft>
                <a:spcPts val="900"/>
              </a:spcAft>
              <a:buSzPct val="100000"/>
              <a:buChar char="•"/>
            </a:pPr>
            <a:r>
              <a:rPr lang="en-US" sz="1320" dirty="0">
                <a:solidFill>
                  <a:srgbClr val="2230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Novi slučaj ulazi u bazu (retain) i koristi se u narednim rasuđivanjima</a:t>
            </a:r>
            <a:endParaRPr lang="en-US" sz="1320" dirty="0"/>
          </a:p>
        </p:txBody>
      </p:sp>
      <p:sp>
        <p:nvSpPr>
          <p:cNvPr id="10" name="Shape 7"/>
          <p:cNvSpPr/>
          <p:nvPr/>
        </p:nvSpPr>
        <p:spPr>
          <a:xfrm>
            <a:off x="4645152" y="1730850"/>
            <a:ext cx="7077456" cy="3533460"/>
          </a:xfrm>
          <a:prstGeom prst="roundRect">
            <a:avLst>
              <a:gd name="adj" fmla="val 1553"/>
            </a:avLst>
          </a:prstGeom>
          <a:solidFill>
            <a:srgbClr val="FFFFFF"/>
          </a:solidFill>
          <a:ln w="12700">
            <a:solidFill>
              <a:srgbClr val="DCE3D9"/>
            </a:solidFill>
            <a:prstDash val="solid"/>
          </a:ln>
          <a:effectLst>
            <a:outerShdw blurRad="152400" dist="63500" dir="54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pic>
        <p:nvPicPr>
          <p:cNvPr id="11" name="Image 1" descr="img/pravna10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709160" y="1794858"/>
            <a:ext cx="6949440" cy="3405444"/>
          </a:xfrm>
          <a:prstGeom prst="rect">
            <a:avLst/>
          </a:prstGeom>
        </p:spPr>
      </p:pic>
      <p:sp>
        <p:nvSpPr>
          <p:cNvPr id="12" name="Shape 8"/>
          <p:cNvSpPr/>
          <p:nvPr/>
        </p:nvSpPr>
        <p:spPr>
          <a:xfrm>
            <a:off x="6830336" y="5285232"/>
            <a:ext cx="2707088" cy="1453896"/>
          </a:xfrm>
          <a:prstGeom prst="roundRect">
            <a:avLst>
              <a:gd name="adj" fmla="val 3774"/>
            </a:avLst>
          </a:prstGeom>
          <a:solidFill>
            <a:srgbClr val="FFFFFF"/>
          </a:solidFill>
          <a:ln w="12700">
            <a:solidFill>
              <a:srgbClr val="DCE3D9"/>
            </a:solidFill>
            <a:prstDash val="solid"/>
          </a:ln>
          <a:effectLst>
            <a:outerShdw blurRad="152400" dist="63500" dir="54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pic>
        <p:nvPicPr>
          <p:cNvPr id="13" name="Image 2" descr="img/pravna11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894344" y="5349240"/>
            <a:ext cx="2579072" cy="1325880"/>
          </a:xfrm>
          <a:prstGeom prst="rect">
            <a:avLst/>
          </a:prstGeom>
        </p:spPr>
      </p:pic>
      <p:sp>
        <p:nvSpPr>
          <p:cNvPr id="14" name="Text 9"/>
          <p:cNvSpPr/>
          <p:nvPr/>
        </p:nvSpPr>
        <p:spPr>
          <a:xfrm>
            <a:off x="566928" y="5349240"/>
            <a:ext cx="39776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30" i="1" dirty="0">
                <a:solidFill>
                  <a:srgbClr val="6C76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Retain: „Slučaj #12 uspešno sačuvan“ — baza raste i poboljšava buduća poređenja.</a:t>
            </a:r>
            <a:endParaRPr lang="en-US" sz="123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457200"/>
            <a:ext cx="658368" cy="658368"/>
          </a:xfrm>
          <a:prstGeom prst="ellipse">
            <a:avLst/>
          </a:prstGeom>
          <a:solidFill>
            <a:srgbClr val="285238"/>
          </a:solidFill>
          <a:ln/>
          <a:effectLst>
            <a:outerShdw blurRad="101600" dist="38100" dir="54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pic>
        <p:nvPicPr>
          <p:cNvPr id="3" name="Image 0" descr="ico/magic_g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76656" y="630936"/>
            <a:ext cx="310896" cy="310896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325880" y="457200"/>
            <a:ext cx="7772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50" b="1" kern="0" spc="200" dirty="0">
                <a:solidFill>
                  <a:srgbClr val="C8A2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CELINA 9 · GENERISANJE</a:t>
            </a:r>
            <a:endParaRPr lang="en-US" sz="1150" dirty="0"/>
          </a:p>
        </p:txBody>
      </p:sp>
      <p:sp>
        <p:nvSpPr>
          <p:cNvPr id="5" name="Text 2"/>
          <p:cNvSpPr/>
          <p:nvPr/>
        </p:nvSpPr>
        <p:spPr>
          <a:xfrm>
            <a:off x="1307592" y="713232"/>
            <a:ext cx="87782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700" b="1" dirty="0">
                <a:solidFill>
                  <a:srgbClr val="14241F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Generisanje sudske odluke (LLM)</a:t>
            </a:r>
            <a:endParaRPr lang="en-US" sz="2700" dirty="0"/>
          </a:p>
        </p:txBody>
      </p:sp>
      <p:sp>
        <p:nvSpPr>
          <p:cNvPr id="6" name="Shape 3"/>
          <p:cNvSpPr/>
          <p:nvPr/>
        </p:nvSpPr>
        <p:spPr>
          <a:xfrm>
            <a:off x="8531352" y="512064"/>
            <a:ext cx="3154680" cy="420624"/>
          </a:xfrm>
          <a:prstGeom prst="roundRect">
            <a:avLst>
              <a:gd name="adj" fmla="val 50000"/>
            </a:avLst>
          </a:prstGeom>
          <a:solidFill>
            <a:srgbClr val="F1F5EE"/>
          </a:solidFill>
          <a:ln w="12700">
            <a:solidFill>
              <a:srgbClr val="DCE3D9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7" name="Shape 4"/>
          <p:cNvSpPr/>
          <p:nvPr/>
        </p:nvSpPr>
        <p:spPr>
          <a:xfrm>
            <a:off x="8695944" y="649224"/>
            <a:ext cx="146304" cy="146304"/>
          </a:xfrm>
          <a:prstGeom prst="ellipse">
            <a:avLst/>
          </a:prstGeom>
          <a:solidFill>
            <a:srgbClr val="285238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8" name="Text 5"/>
          <p:cNvSpPr/>
          <p:nvPr/>
        </p:nvSpPr>
        <p:spPr>
          <a:xfrm>
            <a:off x="8915400" y="512064"/>
            <a:ext cx="26517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sr-Latn-RS" sz="1150" b="1" dirty="0">
                <a:solidFill>
                  <a:srgbClr val="2230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Bogdan Čiplić</a:t>
            </a:r>
            <a:r>
              <a:rPr lang="en-US" sz="1150" b="1" dirty="0">
                <a:solidFill>
                  <a:srgbClr val="2230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· Prikaz i odlučivanje</a:t>
            </a:r>
            <a:endParaRPr lang="en-US" sz="1150" dirty="0"/>
          </a:p>
        </p:txBody>
      </p:sp>
      <p:sp>
        <p:nvSpPr>
          <p:cNvPr id="9" name="Shape 6"/>
          <p:cNvSpPr/>
          <p:nvPr/>
        </p:nvSpPr>
        <p:spPr>
          <a:xfrm>
            <a:off x="8174794" y="1353312"/>
            <a:ext cx="3584332" cy="5340096"/>
          </a:xfrm>
          <a:prstGeom prst="roundRect">
            <a:avLst>
              <a:gd name="adj" fmla="val 1531"/>
            </a:avLst>
          </a:prstGeom>
          <a:solidFill>
            <a:srgbClr val="FFFFFF"/>
          </a:solidFill>
          <a:ln w="12700">
            <a:solidFill>
              <a:srgbClr val="DCE3D9"/>
            </a:solidFill>
            <a:prstDash val="solid"/>
          </a:ln>
          <a:effectLst>
            <a:outerShdw blurRad="152400" dist="63500" dir="54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pic>
        <p:nvPicPr>
          <p:cNvPr id="10" name="Image 1" descr="img/pravna13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238802" y="1417320"/>
            <a:ext cx="3456316" cy="5212080"/>
          </a:xfrm>
          <a:prstGeom prst="rect">
            <a:avLst/>
          </a:prstGeom>
        </p:spPr>
      </p:pic>
      <p:sp>
        <p:nvSpPr>
          <p:cNvPr id="11" name="Text 7"/>
          <p:cNvSpPr/>
          <p:nvPr/>
        </p:nvSpPr>
        <p:spPr>
          <a:xfrm>
            <a:off x="566928" y="1783080"/>
            <a:ext cx="7315200" cy="3931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177800" indent="-177800">
              <a:lnSpc>
                <a:spcPct val="102000"/>
              </a:lnSpc>
              <a:spcAft>
                <a:spcPts val="900"/>
              </a:spcAft>
              <a:buSzPct val="100000"/>
              <a:buChar char="•"/>
            </a:pPr>
            <a:r>
              <a:rPr lang="en-US" sz="1360" dirty="0">
                <a:solidFill>
                  <a:srgbClr val="2230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Ulaz: uneti opis slučaja + rezultati rasuđivanja</a:t>
            </a:r>
            <a:endParaRPr lang="en-US" sz="1360" dirty="0"/>
          </a:p>
          <a:p>
            <a:pPr marL="177800" indent="-177800">
              <a:lnSpc>
                <a:spcPct val="102000"/>
              </a:lnSpc>
              <a:spcAft>
                <a:spcPts val="900"/>
              </a:spcAft>
              <a:buSzPct val="100000"/>
              <a:buChar char="•"/>
            </a:pPr>
            <a:r>
              <a:rPr lang="en-US" sz="1360" dirty="0">
                <a:solidFill>
                  <a:srgbClr val="2230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LLM generiše odluku po uzoru na postojeće sudske odluke</a:t>
            </a:r>
            <a:endParaRPr lang="en-US" sz="1360" dirty="0"/>
          </a:p>
          <a:p>
            <a:pPr marL="177800" indent="-177800">
              <a:lnSpc>
                <a:spcPct val="102000"/>
              </a:lnSpc>
              <a:spcAft>
                <a:spcPts val="900"/>
              </a:spcAft>
              <a:buSzPct val="100000"/>
              <a:buChar char="•"/>
            </a:pPr>
            <a:r>
              <a:rPr lang="en-US" sz="1360" dirty="0">
                <a:solidFill>
                  <a:srgbClr val="2230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Struktura: Uvod · Činjenično stanje · Dispozitiv · Obrazloženje</a:t>
            </a:r>
            <a:endParaRPr lang="en-US" sz="1360" dirty="0"/>
          </a:p>
          <a:p>
            <a:pPr marL="177800" indent="-177800">
              <a:lnSpc>
                <a:spcPct val="102000"/>
              </a:lnSpc>
              <a:spcAft>
                <a:spcPts val="900"/>
              </a:spcAft>
              <a:buSzPct val="100000"/>
              <a:buChar char="•"/>
            </a:pPr>
            <a:r>
              <a:rPr lang="en-US" sz="1360" dirty="0">
                <a:solidFill>
                  <a:srgbClr val="2230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Dispozitiv: kriv po KZ čl. 261 st. 1, kazna zatvora 33 meseca</a:t>
            </a:r>
            <a:endParaRPr lang="en-US" sz="1360" dirty="0"/>
          </a:p>
          <a:p>
            <a:pPr marL="177800" indent="-177800">
              <a:lnSpc>
                <a:spcPct val="102000"/>
              </a:lnSpc>
              <a:spcAft>
                <a:spcPts val="900"/>
              </a:spcAft>
              <a:buSzPct val="100000"/>
              <a:buChar char="•"/>
            </a:pPr>
            <a:r>
              <a:rPr lang="en-US" sz="1360" dirty="0">
                <a:solidFill>
                  <a:srgbClr val="2230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Obrazloženje poziva članove i sličan predmet (USER-6 — 33 m)</a:t>
            </a:r>
            <a:endParaRPr lang="en-US" sz="1360" dirty="0"/>
          </a:p>
          <a:p>
            <a:pPr marL="177800" indent="-177800">
              <a:lnSpc>
                <a:spcPct val="102000"/>
              </a:lnSpc>
              <a:spcAft>
                <a:spcPts val="900"/>
              </a:spcAft>
              <a:buSzPct val="100000"/>
              <a:buChar char="•"/>
            </a:pPr>
            <a:r>
              <a:rPr lang="en-US" sz="1360" dirty="0">
                <a:solidFill>
                  <a:srgbClr val="2230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Nova odluka se anotira, čuva kao XML i prikazuje korisniku</a:t>
            </a:r>
            <a:endParaRPr lang="en-US" sz="136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457200"/>
            <a:ext cx="658368" cy="658368"/>
          </a:xfrm>
          <a:prstGeom prst="ellipse">
            <a:avLst/>
          </a:prstGeom>
          <a:solidFill>
            <a:srgbClr val="285238"/>
          </a:solidFill>
          <a:ln/>
          <a:effectLst>
            <a:outerShdw blurRad="101600" dist="38100" dir="54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pic>
        <p:nvPicPr>
          <p:cNvPr id="3" name="Image 0" descr="ico/server_w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76656" y="630936"/>
            <a:ext cx="310896" cy="310896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325880" y="457200"/>
            <a:ext cx="7772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50" b="1" kern="0" spc="200" dirty="0">
                <a:solidFill>
                  <a:srgbClr val="C8A2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IMPLEMENTACIJA · rs.ftn.pi.*</a:t>
            </a:r>
            <a:endParaRPr lang="en-US" sz="1150" dirty="0"/>
          </a:p>
        </p:txBody>
      </p:sp>
      <p:sp>
        <p:nvSpPr>
          <p:cNvPr id="5" name="Text 2"/>
          <p:cNvSpPr/>
          <p:nvPr/>
        </p:nvSpPr>
        <p:spPr>
          <a:xfrm>
            <a:off x="1307592" y="713232"/>
            <a:ext cx="87782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700" b="1" dirty="0">
                <a:solidFill>
                  <a:srgbClr val="14241F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Tok izvršavanja kroz komponente</a:t>
            </a:r>
            <a:endParaRPr lang="en-US" sz="2700" dirty="0"/>
          </a:p>
        </p:txBody>
      </p:sp>
      <p:sp>
        <p:nvSpPr>
          <p:cNvPr id="6" name="Shape 3"/>
          <p:cNvSpPr/>
          <p:nvPr/>
        </p:nvSpPr>
        <p:spPr>
          <a:xfrm>
            <a:off x="8531352" y="512064"/>
            <a:ext cx="3154680" cy="420624"/>
          </a:xfrm>
          <a:prstGeom prst="roundRect">
            <a:avLst>
              <a:gd name="adj" fmla="val 50000"/>
            </a:avLst>
          </a:prstGeom>
          <a:solidFill>
            <a:srgbClr val="F1F5EE"/>
          </a:solidFill>
          <a:ln w="12700">
            <a:solidFill>
              <a:srgbClr val="DCE3D9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7" name="Shape 4"/>
          <p:cNvSpPr/>
          <p:nvPr/>
        </p:nvSpPr>
        <p:spPr>
          <a:xfrm>
            <a:off x="8695944" y="649224"/>
            <a:ext cx="146304" cy="146304"/>
          </a:xfrm>
          <a:prstGeom prst="ellipse">
            <a:avLst/>
          </a:prstGeom>
          <a:solidFill>
            <a:srgbClr val="285238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8" name="Text 5"/>
          <p:cNvSpPr/>
          <p:nvPr/>
        </p:nvSpPr>
        <p:spPr>
          <a:xfrm>
            <a:off x="8915400" y="512064"/>
            <a:ext cx="26517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sr-Latn-RS" sz="1150" b="1" dirty="0">
                <a:solidFill>
                  <a:srgbClr val="2230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Bogdan Čiplić</a:t>
            </a:r>
            <a:r>
              <a:rPr lang="en-US" sz="1150" b="1" dirty="0">
                <a:solidFill>
                  <a:srgbClr val="2230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· Prikaz i odlučivanje</a:t>
            </a:r>
            <a:endParaRPr lang="en-US" sz="1150" dirty="0"/>
          </a:p>
        </p:txBody>
      </p:sp>
      <p:sp>
        <p:nvSpPr>
          <p:cNvPr id="9" name="Text 6"/>
          <p:cNvSpPr/>
          <p:nvPr/>
        </p:nvSpPr>
        <p:spPr>
          <a:xfrm>
            <a:off x="566928" y="1783080"/>
            <a:ext cx="3840480" cy="3931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177800" indent="-177800">
              <a:lnSpc>
                <a:spcPct val="102000"/>
              </a:lnSpc>
              <a:spcAft>
                <a:spcPts val="900"/>
              </a:spcAft>
              <a:buSzPct val="100000"/>
              <a:buChar char="•"/>
            </a:pPr>
            <a:r>
              <a:rPr lang="en-US" sz="1300" dirty="0">
                <a:solidFill>
                  <a:srgbClr val="2230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AkomaNtosoParser — učitavanje zakona i odluka iz XML-a</a:t>
            </a:r>
            <a:endParaRPr lang="en-US" sz="1300" dirty="0"/>
          </a:p>
          <a:p>
            <a:pPr marL="177800" indent="-177800">
              <a:lnSpc>
                <a:spcPct val="102000"/>
              </a:lnSpc>
              <a:spcAft>
                <a:spcPts val="900"/>
              </a:spcAft>
              <a:buSzPct val="100000"/>
              <a:buChar char="•"/>
            </a:pPr>
            <a:r>
              <a:rPr lang="en-US" sz="1300" dirty="0">
                <a:solidFill>
                  <a:srgbClr val="2230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NlpClient — ekstrakcija (JUDGMENT / CASE_DESCRIPTION)</a:t>
            </a:r>
            <a:endParaRPr lang="en-US" sz="1300" dirty="0"/>
          </a:p>
          <a:p>
            <a:pPr marL="177800" indent="-177800">
              <a:lnSpc>
                <a:spcPct val="102000"/>
              </a:lnSpc>
              <a:spcAft>
                <a:spcPts val="900"/>
              </a:spcAft>
              <a:buSzPct val="100000"/>
              <a:buChar char="•"/>
            </a:pPr>
            <a:r>
              <a:rPr lang="en-US" sz="1300" dirty="0">
                <a:solidFill>
                  <a:srgbClr val="2230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ReasoningService — „kombinovano rasuđivanje“</a:t>
            </a:r>
            <a:endParaRPr lang="en-US" sz="1300" dirty="0"/>
          </a:p>
          <a:p>
            <a:pPr marL="177800" indent="-177800">
              <a:lnSpc>
                <a:spcPct val="102000"/>
              </a:lnSpc>
              <a:spcAft>
                <a:spcPts val="900"/>
              </a:spcAft>
              <a:buSzPct val="100000"/>
              <a:buChar char="•"/>
            </a:pPr>
            <a:r>
              <a:rPr lang="en-US" sz="1300" dirty="0">
                <a:solidFill>
                  <a:srgbClr val="2230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DrDeviceReasoner + CaseReasoner (kNN)</a:t>
            </a:r>
            <a:endParaRPr lang="en-US" sz="1300" dirty="0"/>
          </a:p>
          <a:p>
            <a:pPr marL="177800" indent="-177800">
              <a:lnSpc>
                <a:spcPct val="102000"/>
              </a:lnSpc>
              <a:spcAft>
                <a:spcPts val="900"/>
              </a:spcAft>
              <a:buSzPct val="100000"/>
              <a:buChar char="•"/>
            </a:pPr>
            <a:r>
              <a:rPr lang="en-US" sz="1300" dirty="0">
                <a:solidFill>
                  <a:srgbClr val="2230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CaseController — retain u PostgreSQL</a:t>
            </a:r>
            <a:endParaRPr lang="en-US" sz="1300" dirty="0"/>
          </a:p>
          <a:p>
            <a:pPr marL="177800" indent="-177800">
              <a:lnSpc>
                <a:spcPct val="102000"/>
              </a:lnSpc>
              <a:spcAft>
                <a:spcPts val="900"/>
              </a:spcAft>
              <a:buSzPct val="100000"/>
              <a:buChar char="•"/>
            </a:pPr>
            <a:r>
              <a:rPr lang="en-US" sz="1300" dirty="0">
                <a:solidFill>
                  <a:srgbClr val="2230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DecisionGenerator — generisanje + obrazloženje LLM-om</a:t>
            </a:r>
            <a:endParaRPr lang="en-US" sz="1300" dirty="0"/>
          </a:p>
        </p:txBody>
      </p:sp>
      <p:sp>
        <p:nvSpPr>
          <p:cNvPr id="10" name="Shape 7"/>
          <p:cNvSpPr/>
          <p:nvPr/>
        </p:nvSpPr>
        <p:spPr>
          <a:xfrm>
            <a:off x="4507992" y="2145908"/>
            <a:ext cx="7214616" cy="3572024"/>
          </a:xfrm>
          <a:prstGeom prst="roundRect">
            <a:avLst>
              <a:gd name="adj" fmla="val 1536"/>
            </a:avLst>
          </a:prstGeom>
          <a:solidFill>
            <a:srgbClr val="FFFFFF"/>
          </a:solidFill>
          <a:ln w="12700">
            <a:solidFill>
              <a:srgbClr val="DCE3D9"/>
            </a:solidFill>
            <a:prstDash val="solid"/>
          </a:ln>
          <a:effectLst>
            <a:outerShdw blurRad="152400" dist="63500" dir="54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pic>
        <p:nvPicPr>
          <p:cNvPr id="11" name="Image 1" descr="img/pravna15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2000" y="2209916"/>
            <a:ext cx="7086600" cy="3444008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4572000" y="6172200"/>
            <a:ext cx="7086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i="1" dirty="0">
                <a:solidFill>
                  <a:srgbClr val="6C76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Log realnog pokretanja: sve komponente rade zajedno u jednom toku.</a:t>
            </a:r>
            <a:endParaRPr lang="en-US" sz="12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457200"/>
            <a:ext cx="658368" cy="658368"/>
          </a:xfrm>
          <a:prstGeom prst="ellipse">
            <a:avLst/>
          </a:prstGeom>
          <a:solidFill>
            <a:srgbClr val="285238"/>
          </a:solidFill>
          <a:ln/>
          <a:effectLst>
            <a:outerShdw blurRad="101600" dist="38100" dir="54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pic>
        <p:nvPicPr>
          <p:cNvPr id="3" name="Image 0" descr="ico/check_w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7512" y="621792"/>
            <a:ext cx="329184" cy="329184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325880" y="4572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b="1" kern="0" spc="200" dirty="0">
                <a:solidFill>
                  <a:srgbClr val="C8A2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POKRIVENOST ZADATKA</a:t>
            </a:r>
            <a:endParaRPr lang="en-US" sz="1150" dirty="0"/>
          </a:p>
        </p:txBody>
      </p:sp>
      <p:sp>
        <p:nvSpPr>
          <p:cNvPr id="5" name="Text 2"/>
          <p:cNvSpPr/>
          <p:nvPr/>
        </p:nvSpPr>
        <p:spPr>
          <a:xfrm>
            <a:off x="1307592" y="713232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700" b="1" dirty="0">
                <a:solidFill>
                  <a:srgbClr val="14241F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Svih 9 celina realizovano</a:t>
            </a:r>
            <a:endParaRPr lang="en-US" sz="2700" dirty="0"/>
          </a:p>
        </p:txBody>
      </p:sp>
      <p:sp>
        <p:nvSpPr>
          <p:cNvPr id="6" name="Shape 3"/>
          <p:cNvSpPr/>
          <p:nvPr/>
        </p:nvSpPr>
        <p:spPr>
          <a:xfrm>
            <a:off x="548640" y="1783080"/>
            <a:ext cx="5394960" cy="640080"/>
          </a:xfrm>
          <a:prstGeom prst="roundRect">
            <a:avLst>
              <a:gd name="adj" fmla="val 11429"/>
            </a:avLst>
          </a:prstGeom>
          <a:solidFill>
            <a:srgbClr val="F1F5EE"/>
          </a:solidFill>
          <a:ln w="12700">
            <a:solidFill>
              <a:srgbClr val="DCE3D9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7" name="Shape 4"/>
          <p:cNvSpPr/>
          <p:nvPr/>
        </p:nvSpPr>
        <p:spPr>
          <a:xfrm>
            <a:off x="694944" y="1929384"/>
            <a:ext cx="347472" cy="347472"/>
          </a:xfrm>
          <a:prstGeom prst="ellipse">
            <a:avLst/>
          </a:prstGeom>
          <a:solidFill>
            <a:srgbClr val="285238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8" name="Text 5"/>
          <p:cNvSpPr/>
          <p:nvPr/>
        </p:nvSpPr>
        <p:spPr>
          <a:xfrm>
            <a:off x="694944" y="1929384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1</a:t>
            </a:r>
            <a:endParaRPr lang="en-US" sz="1300" dirty="0"/>
          </a:p>
        </p:txBody>
      </p:sp>
      <p:sp>
        <p:nvSpPr>
          <p:cNvPr id="9" name="Text 6"/>
          <p:cNvSpPr/>
          <p:nvPr/>
        </p:nvSpPr>
        <p:spPr>
          <a:xfrm>
            <a:off x="1170432" y="1783080"/>
            <a:ext cx="4114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80" dirty="0">
                <a:solidFill>
                  <a:srgbClr val="2230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Zakon u Akoma Ntoso (anotiran XML)</a:t>
            </a:r>
            <a:endParaRPr lang="en-US" sz="1280" dirty="0"/>
          </a:p>
        </p:txBody>
      </p:sp>
      <p:pic>
        <p:nvPicPr>
          <p:cNvPr id="10" name="Image 1" descr="ico/check_s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486400" y="1975104"/>
            <a:ext cx="274320" cy="274320"/>
          </a:xfrm>
          <a:prstGeom prst="rect">
            <a:avLst/>
          </a:prstGeom>
        </p:spPr>
      </p:pic>
      <p:sp>
        <p:nvSpPr>
          <p:cNvPr id="11" name="Shape 7"/>
          <p:cNvSpPr/>
          <p:nvPr/>
        </p:nvSpPr>
        <p:spPr>
          <a:xfrm>
            <a:off x="548640" y="2542032"/>
            <a:ext cx="5394960" cy="640080"/>
          </a:xfrm>
          <a:prstGeom prst="roundRect">
            <a:avLst>
              <a:gd name="adj" fmla="val 11429"/>
            </a:avLst>
          </a:prstGeom>
          <a:solidFill>
            <a:srgbClr val="F1F5EE"/>
          </a:solidFill>
          <a:ln w="12700">
            <a:solidFill>
              <a:srgbClr val="DCE3D9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2" name="Shape 8"/>
          <p:cNvSpPr/>
          <p:nvPr/>
        </p:nvSpPr>
        <p:spPr>
          <a:xfrm>
            <a:off x="694944" y="2688336"/>
            <a:ext cx="347472" cy="347472"/>
          </a:xfrm>
          <a:prstGeom prst="ellipse">
            <a:avLst/>
          </a:prstGeom>
          <a:solidFill>
            <a:srgbClr val="285238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3" name="Text 9"/>
          <p:cNvSpPr/>
          <p:nvPr/>
        </p:nvSpPr>
        <p:spPr>
          <a:xfrm>
            <a:off x="694944" y="2688336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2</a:t>
            </a:r>
            <a:endParaRPr lang="en-US" sz="1300" dirty="0"/>
          </a:p>
        </p:txBody>
      </p:sp>
      <p:sp>
        <p:nvSpPr>
          <p:cNvPr id="14" name="Text 10"/>
          <p:cNvSpPr/>
          <p:nvPr/>
        </p:nvSpPr>
        <p:spPr>
          <a:xfrm>
            <a:off x="1170432" y="2542032"/>
            <a:ext cx="4114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80" dirty="0">
                <a:solidFill>
                  <a:srgbClr val="2230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46 sudskih odluka u Akoma Ntoso</a:t>
            </a:r>
            <a:endParaRPr lang="en-US" sz="1280" dirty="0"/>
          </a:p>
        </p:txBody>
      </p:sp>
      <p:pic>
        <p:nvPicPr>
          <p:cNvPr id="15" name="Image 2" descr="ico/check_s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486400" y="2734056"/>
            <a:ext cx="274320" cy="274320"/>
          </a:xfrm>
          <a:prstGeom prst="rect">
            <a:avLst/>
          </a:prstGeom>
        </p:spPr>
      </p:pic>
      <p:sp>
        <p:nvSpPr>
          <p:cNvPr id="16" name="Shape 11"/>
          <p:cNvSpPr/>
          <p:nvPr/>
        </p:nvSpPr>
        <p:spPr>
          <a:xfrm>
            <a:off x="548640" y="3300984"/>
            <a:ext cx="5394960" cy="640080"/>
          </a:xfrm>
          <a:prstGeom prst="roundRect">
            <a:avLst>
              <a:gd name="adj" fmla="val 11429"/>
            </a:avLst>
          </a:prstGeom>
          <a:solidFill>
            <a:srgbClr val="F1F5EE"/>
          </a:solidFill>
          <a:ln w="12700">
            <a:solidFill>
              <a:srgbClr val="DCE3D9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7" name="Shape 12"/>
          <p:cNvSpPr/>
          <p:nvPr/>
        </p:nvSpPr>
        <p:spPr>
          <a:xfrm>
            <a:off x="694944" y="3447288"/>
            <a:ext cx="347472" cy="347472"/>
          </a:xfrm>
          <a:prstGeom prst="ellipse">
            <a:avLst/>
          </a:prstGeom>
          <a:solidFill>
            <a:srgbClr val="285238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8" name="Text 13"/>
          <p:cNvSpPr/>
          <p:nvPr/>
        </p:nvSpPr>
        <p:spPr>
          <a:xfrm>
            <a:off x="694944" y="3447288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3</a:t>
            </a:r>
            <a:endParaRPr lang="en-US" sz="1300" dirty="0"/>
          </a:p>
        </p:txBody>
      </p:sp>
      <p:sp>
        <p:nvSpPr>
          <p:cNvPr id="19" name="Text 14"/>
          <p:cNvSpPr/>
          <p:nvPr/>
        </p:nvSpPr>
        <p:spPr>
          <a:xfrm>
            <a:off x="1170432" y="3300984"/>
            <a:ext cx="4114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sr-Latn-RS" sz="1280" dirty="0">
                <a:solidFill>
                  <a:srgbClr val="2230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55</a:t>
            </a:r>
            <a:r>
              <a:rPr lang="en-US" sz="1280" dirty="0">
                <a:solidFill>
                  <a:srgbClr val="2230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 pravila u LegalRuleML</a:t>
            </a:r>
            <a:endParaRPr lang="en-US" sz="1280" dirty="0"/>
          </a:p>
        </p:txBody>
      </p:sp>
      <p:pic>
        <p:nvPicPr>
          <p:cNvPr id="20" name="Image 3" descr="ico/check_s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486400" y="3493008"/>
            <a:ext cx="274320" cy="274320"/>
          </a:xfrm>
          <a:prstGeom prst="rect">
            <a:avLst/>
          </a:prstGeom>
        </p:spPr>
      </p:pic>
      <p:sp>
        <p:nvSpPr>
          <p:cNvPr id="21" name="Shape 15"/>
          <p:cNvSpPr/>
          <p:nvPr/>
        </p:nvSpPr>
        <p:spPr>
          <a:xfrm>
            <a:off x="548640" y="4059936"/>
            <a:ext cx="5394960" cy="640080"/>
          </a:xfrm>
          <a:prstGeom prst="roundRect">
            <a:avLst>
              <a:gd name="adj" fmla="val 11429"/>
            </a:avLst>
          </a:prstGeom>
          <a:solidFill>
            <a:srgbClr val="F1F5EE"/>
          </a:solidFill>
          <a:ln w="12700">
            <a:solidFill>
              <a:srgbClr val="DCE3D9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2" name="Shape 16"/>
          <p:cNvSpPr/>
          <p:nvPr/>
        </p:nvSpPr>
        <p:spPr>
          <a:xfrm>
            <a:off x="694944" y="4206240"/>
            <a:ext cx="347472" cy="347472"/>
          </a:xfrm>
          <a:prstGeom prst="ellipse">
            <a:avLst/>
          </a:prstGeom>
          <a:solidFill>
            <a:srgbClr val="285238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3" name="Text 17"/>
          <p:cNvSpPr/>
          <p:nvPr/>
        </p:nvSpPr>
        <p:spPr>
          <a:xfrm>
            <a:off x="694944" y="4206240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4</a:t>
            </a:r>
            <a:endParaRPr lang="en-US" sz="1300" dirty="0"/>
          </a:p>
        </p:txBody>
      </p:sp>
      <p:sp>
        <p:nvSpPr>
          <p:cNvPr id="24" name="Text 18"/>
          <p:cNvSpPr/>
          <p:nvPr/>
        </p:nvSpPr>
        <p:spPr>
          <a:xfrm>
            <a:off x="1170432" y="4059936"/>
            <a:ext cx="4114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80" dirty="0">
                <a:solidFill>
                  <a:srgbClr val="2230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NLP ekstrakcija + ručno ažuriranje</a:t>
            </a:r>
            <a:endParaRPr lang="en-US" sz="1280" dirty="0"/>
          </a:p>
        </p:txBody>
      </p:sp>
      <p:pic>
        <p:nvPicPr>
          <p:cNvPr id="25" name="Image 4" descr="ico/check_s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486400" y="4251960"/>
            <a:ext cx="274320" cy="274320"/>
          </a:xfrm>
          <a:prstGeom prst="rect">
            <a:avLst/>
          </a:prstGeom>
        </p:spPr>
      </p:pic>
      <p:sp>
        <p:nvSpPr>
          <p:cNvPr id="26" name="Shape 19"/>
          <p:cNvSpPr/>
          <p:nvPr/>
        </p:nvSpPr>
        <p:spPr>
          <a:xfrm>
            <a:off x="548640" y="4818888"/>
            <a:ext cx="5394960" cy="640080"/>
          </a:xfrm>
          <a:prstGeom prst="roundRect">
            <a:avLst>
              <a:gd name="adj" fmla="val 11429"/>
            </a:avLst>
          </a:prstGeom>
          <a:solidFill>
            <a:srgbClr val="F1F5EE"/>
          </a:solidFill>
          <a:ln w="12700">
            <a:solidFill>
              <a:srgbClr val="DCE3D9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7" name="Shape 20"/>
          <p:cNvSpPr/>
          <p:nvPr/>
        </p:nvSpPr>
        <p:spPr>
          <a:xfrm>
            <a:off x="694944" y="4965192"/>
            <a:ext cx="347472" cy="347472"/>
          </a:xfrm>
          <a:prstGeom prst="ellipse">
            <a:avLst/>
          </a:prstGeom>
          <a:solidFill>
            <a:srgbClr val="285238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8" name="Text 21"/>
          <p:cNvSpPr/>
          <p:nvPr/>
        </p:nvSpPr>
        <p:spPr>
          <a:xfrm>
            <a:off x="694944" y="4965192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5</a:t>
            </a:r>
            <a:endParaRPr lang="en-US" sz="1300" dirty="0"/>
          </a:p>
        </p:txBody>
      </p:sp>
      <p:sp>
        <p:nvSpPr>
          <p:cNvPr id="29" name="Text 22"/>
          <p:cNvSpPr/>
          <p:nvPr/>
        </p:nvSpPr>
        <p:spPr>
          <a:xfrm>
            <a:off x="1170432" y="4818888"/>
            <a:ext cx="4114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80" dirty="0">
                <a:solidFill>
                  <a:srgbClr val="2230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Rasuđivanje po pravilima (dr-device)</a:t>
            </a:r>
            <a:endParaRPr lang="en-US" sz="1280" dirty="0"/>
          </a:p>
        </p:txBody>
      </p:sp>
      <p:pic>
        <p:nvPicPr>
          <p:cNvPr id="30" name="Image 5" descr="ico/check_s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486400" y="5010912"/>
            <a:ext cx="274320" cy="274320"/>
          </a:xfrm>
          <a:prstGeom prst="rect">
            <a:avLst/>
          </a:prstGeom>
        </p:spPr>
      </p:pic>
      <p:sp>
        <p:nvSpPr>
          <p:cNvPr id="31" name="Shape 23"/>
          <p:cNvSpPr/>
          <p:nvPr/>
        </p:nvSpPr>
        <p:spPr>
          <a:xfrm>
            <a:off x="6263640" y="1783080"/>
            <a:ext cx="5394960" cy="640080"/>
          </a:xfrm>
          <a:prstGeom prst="roundRect">
            <a:avLst>
              <a:gd name="adj" fmla="val 11429"/>
            </a:avLst>
          </a:prstGeom>
          <a:solidFill>
            <a:srgbClr val="F1F5EE"/>
          </a:solidFill>
          <a:ln w="12700">
            <a:solidFill>
              <a:srgbClr val="DCE3D9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2" name="Shape 24"/>
          <p:cNvSpPr/>
          <p:nvPr/>
        </p:nvSpPr>
        <p:spPr>
          <a:xfrm>
            <a:off x="6409944" y="1929384"/>
            <a:ext cx="347472" cy="347472"/>
          </a:xfrm>
          <a:prstGeom prst="ellipse">
            <a:avLst/>
          </a:prstGeom>
          <a:solidFill>
            <a:srgbClr val="285238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3" name="Text 25"/>
          <p:cNvSpPr/>
          <p:nvPr/>
        </p:nvSpPr>
        <p:spPr>
          <a:xfrm>
            <a:off x="6409944" y="1929384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6</a:t>
            </a:r>
            <a:endParaRPr lang="en-US" sz="1300" dirty="0"/>
          </a:p>
        </p:txBody>
      </p:sp>
      <p:sp>
        <p:nvSpPr>
          <p:cNvPr id="34" name="Text 26"/>
          <p:cNvSpPr/>
          <p:nvPr/>
        </p:nvSpPr>
        <p:spPr>
          <a:xfrm>
            <a:off x="6885432" y="1783080"/>
            <a:ext cx="4114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80" dirty="0">
                <a:solidFill>
                  <a:srgbClr val="2230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Baza slučajeva + sličnost (13 činjenica)</a:t>
            </a:r>
            <a:endParaRPr lang="en-US" sz="1280" dirty="0"/>
          </a:p>
        </p:txBody>
      </p:sp>
      <p:pic>
        <p:nvPicPr>
          <p:cNvPr id="35" name="Image 6" descr="ico/check_s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1201400" y="1975104"/>
            <a:ext cx="274320" cy="274320"/>
          </a:xfrm>
          <a:prstGeom prst="rect">
            <a:avLst/>
          </a:prstGeom>
        </p:spPr>
      </p:pic>
      <p:sp>
        <p:nvSpPr>
          <p:cNvPr id="36" name="Shape 27"/>
          <p:cNvSpPr/>
          <p:nvPr/>
        </p:nvSpPr>
        <p:spPr>
          <a:xfrm>
            <a:off x="6263640" y="2542032"/>
            <a:ext cx="5394960" cy="640080"/>
          </a:xfrm>
          <a:prstGeom prst="roundRect">
            <a:avLst>
              <a:gd name="adj" fmla="val 11429"/>
            </a:avLst>
          </a:prstGeom>
          <a:solidFill>
            <a:srgbClr val="F1F5EE"/>
          </a:solidFill>
          <a:ln w="12700">
            <a:solidFill>
              <a:srgbClr val="DCE3D9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7" name="Shape 28"/>
          <p:cNvSpPr/>
          <p:nvPr/>
        </p:nvSpPr>
        <p:spPr>
          <a:xfrm>
            <a:off x="6409944" y="2688336"/>
            <a:ext cx="347472" cy="347472"/>
          </a:xfrm>
          <a:prstGeom prst="ellipse">
            <a:avLst/>
          </a:prstGeom>
          <a:solidFill>
            <a:srgbClr val="285238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8" name="Text 29"/>
          <p:cNvSpPr/>
          <p:nvPr/>
        </p:nvSpPr>
        <p:spPr>
          <a:xfrm>
            <a:off x="6409944" y="2688336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7</a:t>
            </a:r>
            <a:endParaRPr lang="en-US" sz="1300" dirty="0"/>
          </a:p>
        </p:txBody>
      </p:sp>
      <p:sp>
        <p:nvSpPr>
          <p:cNvPr id="39" name="Text 30"/>
          <p:cNvSpPr/>
          <p:nvPr/>
        </p:nvSpPr>
        <p:spPr>
          <a:xfrm>
            <a:off x="6885432" y="2542032"/>
            <a:ext cx="4114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80" dirty="0">
                <a:solidFill>
                  <a:srgbClr val="2230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Prikaz i navigacija kroz reference</a:t>
            </a:r>
            <a:endParaRPr lang="en-US" sz="1280" dirty="0"/>
          </a:p>
        </p:txBody>
      </p:sp>
      <p:pic>
        <p:nvPicPr>
          <p:cNvPr id="40" name="Image 7" descr="ico/check_s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1201400" y="2734056"/>
            <a:ext cx="274320" cy="274320"/>
          </a:xfrm>
          <a:prstGeom prst="rect">
            <a:avLst/>
          </a:prstGeom>
        </p:spPr>
      </p:pic>
      <p:sp>
        <p:nvSpPr>
          <p:cNvPr id="41" name="Shape 31"/>
          <p:cNvSpPr/>
          <p:nvPr/>
        </p:nvSpPr>
        <p:spPr>
          <a:xfrm>
            <a:off x="6263640" y="3300984"/>
            <a:ext cx="5394960" cy="640080"/>
          </a:xfrm>
          <a:prstGeom prst="roundRect">
            <a:avLst>
              <a:gd name="adj" fmla="val 11429"/>
            </a:avLst>
          </a:prstGeom>
          <a:solidFill>
            <a:srgbClr val="F1F5EE"/>
          </a:solidFill>
          <a:ln w="12700">
            <a:solidFill>
              <a:srgbClr val="DCE3D9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2" name="Shape 32"/>
          <p:cNvSpPr/>
          <p:nvPr/>
        </p:nvSpPr>
        <p:spPr>
          <a:xfrm>
            <a:off x="6409944" y="3447288"/>
            <a:ext cx="347472" cy="347472"/>
          </a:xfrm>
          <a:prstGeom prst="ellipse">
            <a:avLst/>
          </a:prstGeom>
          <a:solidFill>
            <a:srgbClr val="285238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43" name="Text 33"/>
          <p:cNvSpPr/>
          <p:nvPr/>
        </p:nvSpPr>
        <p:spPr>
          <a:xfrm>
            <a:off x="6409944" y="3447288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8</a:t>
            </a:r>
            <a:endParaRPr lang="en-US" sz="1300" dirty="0"/>
          </a:p>
        </p:txBody>
      </p:sp>
      <p:sp>
        <p:nvSpPr>
          <p:cNvPr id="44" name="Text 34"/>
          <p:cNvSpPr/>
          <p:nvPr/>
        </p:nvSpPr>
        <p:spPr>
          <a:xfrm>
            <a:off x="6885432" y="3300984"/>
            <a:ext cx="4114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80" dirty="0">
                <a:solidFill>
                  <a:srgbClr val="2230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Kombinovano rasuđivanje + čuvanje</a:t>
            </a:r>
            <a:endParaRPr lang="en-US" sz="1280" dirty="0"/>
          </a:p>
        </p:txBody>
      </p:sp>
      <p:pic>
        <p:nvPicPr>
          <p:cNvPr id="45" name="Image 8" descr="ico/check_s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1201400" y="3493008"/>
            <a:ext cx="274320" cy="274320"/>
          </a:xfrm>
          <a:prstGeom prst="rect">
            <a:avLst/>
          </a:prstGeom>
        </p:spPr>
      </p:pic>
      <p:sp>
        <p:nvSpPr>
          <p:cNvPr id="46" name="Shape 35"/>
          <p:cNvSpPr/>
          <p:nvPr/>
        </p:nvSpPr>
        <p:spPr>
          <a:xfrm>
            <a:off x="6263640" y="4059936"/>
            <a:ext cx="5394960" cy="640080"/>
          </a:xfrm>
          <a:prstGeom prst="roundRect">
            <a:avLst>
              <a:gd name="adj" fmla="val 11429"/>
            </a:avLst>
          </a:prstGeom>
          <a:solidFill>
            <a:srgbClr val="F1F5EE"/>
          </a:solidFill>
          <a:ln w="12700">
            <a:solidFill>
              <a:srgbClr val="DCE3D9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7" name="Shape 36"/>
          <p:cNvSpPr/>
          <p:nvPr/>
        </p:nvSpPr>
        <p:spPr>
          <a:xfrm>
            <a:off x="6409944" y="4206240"/>
            <a:ext cx="347472" cy="347472"/>
          </a:xfrm>
          <a:prstGeom prst="ellipse">
            <a:avLst/>
          </a:prstGeom>
          <a:solidFill>
            <a:srgbClr val="285238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48" name="Text 37"/>
          <p:cNvSpPr/>
          <p:nvPr/>
        </p:nvSpPr>
        <p:spPr>
          <a:xfrm>
            <a:off x="6409944" y="4206240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9</a:t>
            </a:r>
            <a:endParaRPr lang="en-US" sz="1300" dirty="0"/>
          </a:p>
        </p:txBody>
      </p:sp>
      <p:sp>
        <p:nvSpPr>
          <p:cNvPr id="49" name="Text 38"/>
          <p:cNvSpPr/>
          <p:nvPr/>
        </p:nvSpPr>
        <p:spPr>
          <a:xfrm>
            <a:off x="6885432" y="4059936"/>
            <a:ext cx="4114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80" dirty="0">
                <a:solidFill>
                  <a:srgbClr val="2230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Generisanje presude (LLM) → XML</a:t>
            </a:r>
            <a:endParaRPr lang="en-US" sz="1280" dirty="0"/>
          </a:p>
        </p:txBody>
      </p:sp>
      <p:pic>
        <p:nvPicPr>
          <p:cNvPr id="50" name="Image 9" descr="ico/check_s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1201400" y="4251960"/>
            <a:ext cx="274320" cy="274320"/>
          </a:xfrm>
          <a:prstGeom prst="rect">
            <a:avLst/>
          </a:prstGeom>
        </p:spPr>
      </p:pic>
      <p:sp>
        <p:nvSpPr>
          <p:cNvPr id="51" name="Shape 39"/>
          <p:cNvSpPr/>
          <p:nvPr/>
        </p:nvSpPr>
        <p:spPr>
          <a:xfrm>
            <a:off x="548640" y="5760720"/>
            <a:ext cx="3611880" cy="868680"/>
          </a:xfrm>
          <a:prstGeom prst="roundRect">
            <a:avLst>
              <a:gd name="adj" fmla="val 10526"/>
            </a:avLst>
          </a:prstGeom>
          <a:solidFill>
            <a:srgbClr val="14241F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52" name="Text 40"/>
          <p:cNvSpPr/>
          <p:nvPr/>
        </p:nvSpPr>
        <p:spPr>
          <a:xfrm>
            <a:off x="731520" y="5852160"/>
            <a:ext cx="12801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000" b="1" dirty="0">
                <a:solidFill>
                  <a:srgbClr val="C8A24B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46</a:t>
            </a:r>
            <a:endParaRPr lang="en-US" sz="3000" dirty="0"/>
          </a:p>
        </p:txBody>
      </p:sp>
      <p:sp>
        <p:nvSpPr>
          <p:cNvPr id="53" name="Text 41"/>
          <p:cNvSpPr/>
          <p:nvPr/>
        </p:nvSpPr>
        <p:spPr>
          <a:xfrm>
            <a:off x="1965960" y="5760720"/>
            <a:ext cx="20574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sudskih odluka (≥15)</a:t>
            </a:r>
            <a:endParaRPr lang="en-US" sz="1250" dirty="0"/>
          </a:p>
        </p:txBody>
      </p:sp>
      <p:sp>
        <p:nvSpPr>
          <p:cNvPr id="54" name="Shape 42"/>
          <p:cNvSpPr/>
          <p:nvPr/>
        </p:nvSpPr>
        <p:spPr>
          <a:xfrm>
            <a:off x="4251960" y="5760720"/>
            <a:ext cx="3611880" cy="868680"/>
          </a:xfrm>
          <a:prstGeom prst="roundRect">
            <a:avLst>
              <a:gd name="adj" fmla="val 10526"/>
            </a:avLst>
          </a:prstGeom>
          <a:solidFill>
            <a:srgbClr val="14241F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55" name="Text 43"/>
          <p:cNvSpPr/>
          <p:nvPr/>
        </p:nvSpPr>
        <p:spPr>
          <a:xfrm>
            <a:off x="4434840" y="5852160"/>
            <a:ext cx="12801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000" b="1" dirty="0">
                <a:solidFill>
                  <a:srgbClr val="C8A24B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13</a:t>
            </a:r>
            <a:endParaRPr lang="en-US" sz="3000" dirty="0"/>
          </a:p>
        </p:txBody>
      </p:sp>
      <p:sp>
        <p:nvSpPr>
          <p:cNvPr id="56" name="Text 44"/>
          <p:cNvSpPr/>
          <p:nvPr/>
        </p:nvSpPr>
        <p:spPr>
          <a:xfrm>
            <a:off x="5669280" y="5760720"/>
            <a:ext cx="20574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ključnih činjenica (≥7)</a:t>
            </a:r>
            <a:endParaRPr lang="en-US" sz="1250" dirty="0"/>
          </a:p>
        </p:txBody>
      </p:sp>
      <p:sp>
        <p:nvSpPr>
          <p:cNvPr id="57" name="Shape 45"/>
          <p:cNvSpPr/>
          <p:nvPr/>
        </p:nvSpPr>
        <p:spPr>
          <a:xfrm>
            <a:off x="7955280" y="5760720"/>
            <a:ext cx="3611880" cy="868680"/>
          </a:xfrm>
          <a:prstGeom prst="roundRect">
            <a:avLst>
              <a:gd name="adj" fmla="val 10526"/>
            </a:avLst>
          </a:prstGeom>
          <a:solidFill>
            <a:srgbClr val="14241F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58" name="Text 46"/>
          <p:cNvSpPr/>
          <p:nvPr/>
        </p:nvSpPr>
        <p:spPr>
          <a:xfrm>
            <a:off x="8138160" y="5852160"/>
            <a:ext cx="12801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sr-Latn-RS" sz="3000" b="1" dirty="0">
                <a:solidFill>
                  <a:srgbClr val="C8A24B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55</a:t>
            </a:r>
            <a:r>
              <a:rPr lang="en-US" sz="3000" b="1" dirty="0">
                <a:solidFill>
                  <a:srgbClr val="C8A24B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+</a:t>
            </a:r>
            <a:endParaRPr lang="en-US" sz="3000" dirty="0"/>
          </a:p>
        </p:txBody>
      </p:sp>
      <p:sp>
        <p:nvSpPr>
          <p:cNvPr id="59" name="Text 47"/>
          <p:cNvSpPr/>
          <p:nvPr/>
        </p:nvSpPr>
        <p:spPr>
          <a:xfrm>
            <a:off x="9372600" y="5760720"/>
            <a:ext cx="20574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pravila u LegalRuleML</a:t>
            </a:r>
            <a:endParaRPr lang="en-US" sz="125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14241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-1463040" y="914400"/>
            <a:ext cx="5486400" cy="6400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43000" dirty="0">
                <a:solidFill>
                  <a:srgbClr val="1E2A24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§</a:t>
            </a:r>
            <a:endParaRPr lang="en-US" sz="43000" dirty="0"/>
          </a:p>
        </p:txBody>
      </p:sp>
      <p:sp>
        <p:nvSpPr>
          <p:cNvPr id="3" name="Shape 1"/>
          <p:cNvSpPr/>
          <p:nvPr/>
        </p:nvSpPr>
        <p:spPr>
          <a:xfrm>
            <a:off x="841248" y="1417320"/>
            <a:ext cx="868680" cy="868680"/>
          </a:xfrm>
          <a:prstGeom prst="ellipse">
            <a:avLst/>
          </a:prstGeom>
          <a:solidFill>
            <a:srgbClr val="285238"/>
          </a:solidFill>
          <a:ln/>
        </p:spPr>
        <p:txBody>
          <a:bodyPr/>
          <a:lstStyle/>
          <a:p>
            <a:endParaRPr lang="en-US"/>
          </a:p>
        </p:txBody>
      </p:sp>
      <p:pic>
        <p:nvPicPr>
          <p:cNvPr id="4" name="Image 0" descr="ico/scale_w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78992" y="1655064"/>
            <a:ext cx="393192" cy="393192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841248" y="2606040"/>
            <a:ext cx="105156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4800" b="1" dirty="0">
                <a:solidFill>
                  <a:srgbClr val="FFFFFF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Hvala na pažnji</a:t>
            </a:r>
            <a:endParaRPr lang="en-US" sz="4800" dirty="0"/>
          </a:p>
        </p:txBody>
      </p:sp>
      <p:sp>
        <p:nvSpPr>
          <p:cNvPr id="6" name="Text 3"/>
          <p:cNvSpPr/>
          <p:nvPr/>
        </p:nvSpPr>
        <p:spPr>
          <a:xfrm>
            <a:off x="868680" y="3611880"/>
            <a:ext cx="7315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C8A2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Pitanja?</a:t>
            </a:r>
            <a:endParaRPr lang="en-US" sz="2200" dirty="0"/>
          </a:p>
        </p:txBody>
      </p:sp>
      <p:sp>
        <p:nvSpPr>
          <p:cNvPr id="7" name="Text 4"/>
          <p:cNvSpPr/>
          <p:nvPr/>
        </p:nvSpPr>
        <p:spPr>
          <a:xfrm>
            <a:off x="868680" y="4343400"/>
            <a:ext cx="10424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50" dirty="0">
                <a:solidFill>
                  <a:srgbClr val="BFCBC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Sistem za podršku odlučivanju · </a:t>
            </a:r>
            <a:r>
              <a:rPr lang="sr-Latn-RS" sz="1450" dirty="0">
                <a:solidFill>
                  <a:srgbClr val="BFCBC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</a:t>
            </a:r>
            <a:r>
              <a:rPr lang="en-US" sz="1450" dirty="0" err="1">
                <a:solidFill>
                  <a:srgbClr val="BFCBC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rivična</a:t>
            </a:r>
            <a:r>
              <a:rPr lang="en-US" sz="1450" dirty="0">
                <a:solidFill>
                  <a:srgbClr val="BFCBC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dela protiv životne sredine (KZ čl. 260–277)</a:t>
            </a:r>
            <a:endParaRPr lang="en-US" sz="1450" dirty="0"/>
          </a:p>
        </p:txBody>
      </p:sp>
      <p:sp>
        <p:nvSpPr>
          <p:cNvPr id="8" name="Shape 5"/>
          <p:cNvSpPr/>
          <p:nvPr/>
        </p:nvSpPr>
        <p:spPr>
          <a:xfrm>
            <a:off x="868680" y="5257800"/>
            <a:ext cx="457200" cy="457200"/>
          </a:xfrm>
          <a:prstGeom prst="ellipse">
            <a:avLst/>
          </a:prstGeom>
          <a:solidFill>
            <a:srgbClr val="1E2A24"/>
          </a:solidFill>
          <a:ln w="12700">
            <a:solidFill>
              <a:srgbClr val="3A4A4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pic>
        <p:nvPicPr>
          <p:cNvPr id="9" name="Image 1" descr="ico/scroll_w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78408" y="5367528"/>
            <a:ext cx="237744" cy="237744"/>
          </a:xfrm>
          <a:prstGeom prst="rect">
            <a:avLst/>
          </a:prstGeom>
        </p:spPr>
      </p:pic>
      <p:sp>
        <p:nvSpPr>
          <p:cNvPr id="10" name="Text 6"/>
          <p:cNvSpPr/>
          <p:nvPr/>
        </p:nvSpPr>
        <p:spPr>
          <a:xfrm>
            <a:off x="1435608" y="5257800"/>
            <a:ext cx="299923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sr-Latn-RS" sz="1250" b="1" dirty="0">
                <a:solidFill>
                  <a:srgbClr val="DCE5D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Boris Letić E2 126/2025</a:t>
            </a:r>
            <a:endParaRPr lang="en-US" sz="1250" dirty="0"/>
          </a:p>
        </p:txBody>
      </p:sp>
      <p:sp>
        <p:nvSpPr>
          <p:cNvPr id="11" name="Shape 7"/>
          <p:cNvSpPr/>
          <p:nvPr/>
        </p:nvSpPr>
        <p:spPr>
          <a:xfrm>
            <a:off x="4489704" y="5257800"/>
            <a:ext cx="457200" cy="457200"/>
          </a:xfrm>
          <a:prstGeom prst="ellipse">
            <a:avLst/>
          </a:prstGeom>
          <a:solidFill>
            <a:srgbClr val="1E2A24"/>
          </a:solidFill>
          <a:ln w="12700">
            <a:solidFill>
              <a:srgbClr val="3A4A4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pic>
        <p:nvPicPr>
          <p:cNvPr id="12" name="Image 2" descr="ico/brain_w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99432" y="5367528"/>
            <a:ext cx="237744" cy="237744"/>
          </a:xfrm>
          <a:prstGeom prst="rect">
            <a:avLst/>
          </a:prstGeom>
        </p:spPr>
      </p:pic>
      <p:sp>
        <p:nvSpPr>
          <p:cNvPr id="13" name="Text 8"/>
          <p:cNvSpPr/>
          <p:nvPr/>
        </p:nvSpPr>
        <p:spPr>
          <a:xfrm>
            <a:off x="5056632" y="5257800"/>
            <a:ext cx="299923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DCE5D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Nikola </a:t>
            </a:r>
            <a:r>
              <a:rPr lang="en-US" sz="1250" b="1" dirty="0" err="1">
                <a:solidFill>
                  <a:srgbClr val="DCE5D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Jankovi</a:t>
            </a:r>
            <a:r>
              <a:rPr lang="sr-Latn-RS" sz="1250" b="1" dirty="0">
                <a:solidFill>
                  <a:srgbClr val="DCE5D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ć</a:t>
            </a:r>
            <a:r>
              <a:rPr lang="en-US" sz="1250" b="1" dirty="0">
                <a:solidFill>
                  <a:srgbClr val="DCE5D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E2 130/2025</a:t>
            </a:r>
            <a:endParaRPr lang="en-US" sz="1250" dirty="0"/>
          </a:p>
        </p:txBody>
      </p:sp>
      <p:sp>
        <p:nvSpPr>
          <p:cNvPr id="14" name="Shape 9"/>
          <p:cNvSpPr/>
          <p:nvPr/>
        </p:nvSpPr>
        <p:spPr>
          <a:xfrm>
            <a:off x="8110728" y="5257800"/>
            <a:ext cx="457200" cy="457200"/>
          </a:xfrm>
          <a:prstGeom prst="ellipse">
            <a:avLst/>
          </a:prstGeom>
          <a:solidFill>
            <a:srgbClr val="1E2A24"/>
          </a:solidFill>
          <a:ln w="12700">
            <a:solidFill>
              <a:srgbClr val="3A4A4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pic>
        <p:nvPicPr>
          <p:cNvPr id="15" name="Image 3" descr="ico/gavel_w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220456" y="5367528"/>
            <a:ext cx="237744" cy="237744"/>
          </a:xfrm>
          <a:prstGeom prst="rect">
            <a:avLst/>
          </a:prstGeom>
        </p:spPr>
      </p:pic>
      <p:sp>
        <p:nvSpPr>
          <p:cNvPr id="16" name="Text 10"/>
          <p:cNvSpPr/>
          <p:nvPr/>
        </p:nvSpPr>
        <p:spPr>
          <a:xfrm>
            <a:off x="8677656" y="5257800"/>
            <a:ext cx="299923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sr-Latn-RS" sz="1250" b="1" dirty="0">
                <a:solidFill>
                  <a:srgbClr val="DCE5D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Bogdan Čiplić R2 28</a:t>
            </a:r>
            <a:r>
              <a:rPr lang="en-US" sz="1250" b="1" dirty="0">
                <a:solidFill>
                  <a:srgbClr val="DCE5D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/2025</a:t>
            </a:r>
            <a:endParaRPr lang="en-US" sz="12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29</TotalTime>
  <Words>2959</Words>
  <Application>Microsoft Office PowerPoint</Application>
  <PresentationFormat>Widescreen</PresentationFormat>
  <Paragraphs>234</Paragraphs>
  <Slides>17</Slides>
  <Notes>17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17</vt:i4>
      </vt:variant>
    </vt:vector>
  </HeadingPairs>
  <TitlesOfParts>
    <vt:vector size="21" baseType="lpstr">
      <vt:lpstr>Arial</vt:lpstr>
      <vt:lpstr>Bookman Old Style</vt:lpstr>
      <vt:lpstr>Calibri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Pravna informatika 2025/2026</dc:title>
  <cp:lastModifiedBy>Boris Letic</cp:lastModifiedBy>
  <dcterms:created xsi:type="dcterms:W3CDTF">2026-06-24T02:01:09Z</dcterms:created>
  <dcterms:modified xsi:type="dcterms:W3CDTF">2026-06-24T02:35:35Z</dcterms:modified>
</cp:coreProperties>
</file>