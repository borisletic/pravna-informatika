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00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Pozdrav. Mi smo tročlani tim i predstavljamo sistem za podršku odlučivanju sudijama, u oblasti krivičnih dela protiv životne sredine — članovi 260 do 277 Krivičnog zakonika. Sistem ima bazu znanja od zakona i sudske prakse i nad unetim činjenicama radi rasuđivanje, predlaže prekršene norme i kaznu i generiše nacrt presude. Izlaganje delimo na tri dela po pet minuta: ja pokrivam zakon, norme i rasuđivanje po pravilima; drugi kolega odluke, NLP i poređenje slučajeva; treći prikaz, kombinovano odlučivanje i generisanje.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Ovako delimo posao. U jezgru: baza znanja od jednog zakona i 46 odluka, 10+ pravila u LegalRuleML, NLP ekstrakcija, dva tipa rasuđivanja i generisanje presude. Tri izlaganja: Član 1 — zakon, norme i pravila (celine 1, 3, 5); Član 2 — odluke, NLP i CBR (celine 2, 4, 6); Član 3 — prikaz, kombinovano odlučivanje i generisanje (celine 7, 8, 9). Svako po pet minuta.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Arhitektura prati tok podataka. Najpre se učitavaju zakon i 46 odluka iz Akoma Ntoso XML-a. NLP modul iz teksta vadi metapodatke i pravne činjenice. Zatim rasuđivanje — dva pristupa paralelno: po pravilima preko dr-device i po slučajevima preko CBR/kNN. Iz toga sistem predlaže prekršene članove i kaznu, a na kraju LLM generiše nacrt presude koji se opet anotira i čuva kao XML. Sve je jedan Spring Boot servis sa Thymeleaf prikazom; baza slučajeva je PostgreSQL. U nastavku ja prvo pokrivam levu stranu toka — zakon, norme i rasuđivanje po pravilima.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Prva celina je izbor zakona i njegovo mašinski-čitljivo predstavljanje. Uzeli smo Krivični zakonik, Glavu 24 — krivična dela protiv životne sredine. Ceo tekst je anotiran u Akoma Ntoso XML-u: klasifikacione jedinice glava, član, stav, reference ka članovima istog i drugih zakona, i entiteti poput datuma i organizacija. Anotirali smo svih 18 članova bez obzira da li ih sve koristimo u rasuđivanju, kako traži specifikacija. Desno je prikaz člana 260 — korisniku se prikazuje isključivo render, nikad sirovi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Treća celina je izdvajanje pravnih normi i njihovo predstavljanje u LegalRuleML formatu — to je osnova za rasuđivanje po pravilima. Bitno je da skup činjenica u pravilima bude usklađen sa činjenicama iz odluka, da bismo nad istim pojmovima zaključivali. Logika je pobojiva, defeasible. Zadatak traži minimum 10 pravila bez negacija; prikazani su reprezentativni primeri za članove 260, 261, 266 i 273. Upravo ova pravila zatim izvršava dr-device, što je tema sledećeg slajda.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celina je rasuđivanje po pravilima. Ulaz su pravne činjenice — iz forme ili iz ekstrakcije. Pravila iz LegalRuleML-a izvršava dr-device, koji radi sa pobojivom logikom. Rezultat su prekršeni članovi, svaki sa oznakom da je defeasibly dokazano da je prekršen, i predlog raspona kazne — ovde zatvor od 6 do 60 meseci. Sistem uzima u obzir olakšavajuće i otežavajuće okolnosti, na primer to što je učinilac otklonio štetu. Uz svaki član prikazujemo i tekst same odredbe, što je obrazloženje koje traži zadatak. Time zaokružujem deo o zakonu, normama i pravilima — reč predajem kolegi koji pokriva sudsku praksu, NLP i poređenje slučajeva.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Hvala. Moj deo su sudska praksa, NLP i poređenje slučajeva. Druga celina su sudske odluke u istom Akoma Ntoso formatu. Zadatak traži minimum 15 odluka iz iste oblasti — mi smo obradili 46. Za svaku su anotirani broj predmeta, sud, datum, pomenuti članovi i reference. Pokriveni su Prekršajni apelacioni, Apelacioni, Vrhovni i Vrhovni kasacioni sud. Reference iz odluka ka članovima zakona povezuju sudsku praksu sa normama. Sve odluke se učitavaju i pregledaju unutar aplikacije.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Četvrta celina je NLP. Korisnik može da unese slobodan tekstualni opis slučaja, a klikom na „Popuni automatski iz teksta“ pokreće se NLP modul koji iz opisa izvuče pravne činjenice. Levo je prazna forma, desno ista forma posle ekstrakcije — vidite poruku „Činjenice popunjene“ i da su dropdowni i checkboxovi automatski postavljeni: voda, veća mera, širi prostor, nehat, član 261 i član 266. Korišćene su tehnike obrade prirodnog jezika, mašinskog i dubokog učenja.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Kada se odluka učita ili kada generišemo novu, NLP iz teksta vadi dva sloja: metapodatke — broj predmeta, sud, datum, sudije, zapisničara, stranke — i pravne činjenice potrebne za rasuđivanje, kao što su cilj zagađenja, tip supstance, namera, količina u kubnim metrima. Vrednosti su tipizirane: enumeracije, brojevi, boolean. Ključno za zadatak: ekstrakcija je automatska, ali postoji dugme „Ažuriraj ekstrahovane podatke“ za ručnu korekciju ako model nešto promaši.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Šesta celina je baza slučajeva za rasuđivanje po slučajevima. Svaki slučaj predstavljen je ključnim činjenicama koje dobijamo ekstrakcijom. Zadatak traži minimum sedam, mi koristimo trinaest: prekršeni član, vrstu i dužinu kazne, tip supstance, cilj zagađenja, štetu, nameru, količinu supstance i ostale. Slučajevi se čuvaju u PostgreSQL bazi. Izvor može biti korisnički unos ili postojeće odluke.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bismo poredili slučajeve, nad svakim atributom smo definisali lokalnu funkciju sličnosti: za enumeracije podudaranje, za brojeve poput količine u kubnim metrima razliku, za boolean jednakost. Lokalne sličnosti se agregiraju u globalnu, a kNN bira najbliže slučajeve. Na ekranu su rezultati sa procentima — 100, 75, 60 odsto — i ishodi tih predmeta, koji služe kao orijentir za kaznu. Pristup je u duhu alata jColibri. Ovim završavam svoj deo i predajem reč trećem kolegi.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Hvala. Moj deo su prikaz, kombinovano odlučivanje i generisanje presude. Sedma celina je prikaz i navigacija. Pošto smo reference anotirali u XML-u, one su u aplikaciji klikabilne. Kada korisnik klikne referencu — recimo „član 260 ovog zakonika“ — sistem otvori taj član i stavi ga u fokus. Na slici je član 261 osenčen jer smo do njega došli klikom iz drugog dela teksta. Isto radi i iz sudskih odluka ka članovima zakona. I ovde: korisniku se nikada ne prikazuje Akoma Ntoso, već formatiran tekst sa izdvojenim metapodacima.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Osma celina spaja sve nad korisničkim unosom. Korisnik unese opis novog slučaja; sistem paralelno radi rasuđivanje po pravilima (koje je predstavio prvi kolega) i po slučajevima (koje je predstavio drugi kolega) i prikazuje tri kolone — prekršeni članovi i predlog kazne, slični slučajevi sa procentima, i panel gde korisnik bira konačnu vrstu i dužinu kazne. Klikom na „Sačuvaj slučaj“ novi slučaj se upisuje u bazu — faza retain u CBR ciklusu — i koristi u narednim poređenjima. Dole je potvrda da je slučaj broj 12 sačuvan; baza tako raste.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Deveta, poslednja celina je generisanje presude. Kao ulaz uzimamo uneti opis slučaja i rezultate rasuđivanja, pa LLM generiše odluku po uzoru na postojeće odluke iz baze. Struktura prati pravi format: uvod, činjenično stanje, dispozitiv i obrazloženje. U dispozitivu je okrivljeni oglašen krivim po članu 261 stav 1 sa kaznom zatvora od 33 meseca, a obrazloženje poziva relevantne članove i sličan predmet radi ujednačenosti kaznene politike. Generisana odluka se ponovo anotira, čuva kao XML i prikazuje korisniku — čime se krug zatvara.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pokažemo da sve radi zajedno — ovo je log realnog pokretanja aplikacije. Redom: AkomaNtosoParser učitava odluke iz XML-a, NlpClient poziva ekstrakciju za presude i za opis slučaja, ReasoningService pokreće kombinovano rasuđivanje, DrDeviceReasoner radi nad činjenicama dok CaseReasoner radi kNN pretragu, CaseController upisuje slučaj u PostgreSQL, a DecisionGenerator generiše novu odluku i obrazloženje preko LLM-a. Sve je u paketu rs.ftn.pi i čini jedan povezan tok.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rezimiramo: realizovane su sve tri grupe i svih devet celina — od Akoma Ntoso zakona i 46 odluka, preko 10+ pravila u LegalRuleML, NLP ekstrakcije sa ručnim ažuriranjem, oba tipa rasuđivanja, baze slučajeva sa 13 činjenica, prikaza i navigacije, kombinovanog rasuđivanja sa čuvanjem, do generisanja presude. Brojevi premašuju tražene minimume: 46 umesto 15 odluka i 13 umesto 7 činjenica.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zaključujemo. Pokazali smo kompletan ciklus podrške odlučivanju u oblasti krivičnih dela protiv životne sredine — od mašinski-čitljive baze znanja, preko NLP ekstrakcije i dva komplementarna pristupa rasuđivanju, do generisanja nacrta presude. Hvala na pažnji, rado ćemo odgovoriti na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-914400"/>
            <a:ext cx="45720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0" dirty="0">
                <a:solidFill>
                  <a:srgbClr val="1E2A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§</a:t>
            </a:r>
            <a:endParaRPr lang="en-US" sz="52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868680" cy="868680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/sca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10642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PRAVNA INFORMATIKA · 2025/2026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23317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Sistem za podršku odlučivanju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 krivičnim predmetima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686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Krivična dela protiv životne sredine  </a:t>
            </a:r>
            <a:r>
              <a:rPr lang="en-US" sz="18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KZ čl. 260–277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507492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69848" y="5285232"/>
            <a:ext cx="457200" cy="457200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/scro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53949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52486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Leti</a:t>
            </a:r>
            <a:r>
              <a:rPr lang="sr-Latn-R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Norme i pravila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45920" y="55412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E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 · LegalRuleML · dr-device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4489704" y="507492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90872" y="5285232"/>
            <a:ext cx="457200" cy="457200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/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53949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66944" y="52486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Janković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Odluke, NLP i CBR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266944" y="55412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E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Akoma Ntoso odluke · ekstrakcija · sličnost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8110728" y="5074920"/>
            <a:ext cx="3456432" cy="1234440"/>
          </a:xfrm>
          <a:prstGeom prst="roundRect">
            <a:avLst>
              <a:gd name="adj" fmla="val 740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311896" y="5285232"/>
            <a:ext cx="457200" cy="457200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/gave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539496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87968" y="524865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Čiplić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Prikaz i odlučivanje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887968" y="55412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E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navigacija · kombinovano · generisanje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Šta</a:t>
            </a:r>
            <a:r>
              <a:rPr lang="en-US" sz="30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3000" b="1" dirty="0" err="1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gradimo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celina </a:t>
            </a:r>
            <a:r>
              <a:rPr lang="en-US" sz="1400" i="1" dirty="0" err="1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projektnog</a:t>
            </a:r>
            <a:r>
              <a:rPr lang="en-US" sz="1400" i="1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zadatka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jezgru sistema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znanja: 1</a:t>
            </a:r>
            <a:r>
              <a:rPr lang="sr-Latn-R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20" dirty="0" err="1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</a:t>
            </a:r>
            <a:r>
              <a:rPr lang="sr-Latn-R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+ 46 sudskih odluka u Akoma Ntoso (XML)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sr-Latn-R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20" dirty="0" err="1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pravila</a:t>
            </a: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modelovanih u LegalRuleML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ekstrakcija metapodataka i pravnih činjenica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Rasuđivanje po pravilima (dr-device) i po slučajevima (CBR/kNN)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Predlog kazne + generisanje nacrta presude (LLM)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937760" y="1783080"/>
            <a:ext cx="67025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93792" y="2075688"/>
            <a:ext cx="713232" cy="713232"/>
          </a:xfrm>
          <a:prstGeom prst="ellipse">
            <a:avLst/>
          </a:prstGeom>
          <a:solidFill>
            <a:srgbClr val="F1F5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/scroll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258568"/>
            <a:ext cx="347472" cy="3474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50992" y="2496312"/>
            <a:ext cx="310896" cy="310896"/>
          </a:xfrm>
          <a:prstGeom prst="ellipse">
            <a:avLst/>
          </a:prstGeom>
          <a:solidFill>
            <a:srgbClr val="7BA0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50992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648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Član 1 — Norme i pravila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26480" y="23134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Celine 1, 3, 5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26480" y="26060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 u Akoma Ntoso, pravne norme u LegalRuleML i rasuđivanje po pravilima (dr-device).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37760" y="3319272"/>
            <a:ext cx="67025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193792" y="3611880"/>
            <a:ext cx="713232" cy="713232"/>
          </a:xfrm>
          <a:prstGeom prst="ellipse">
            <a:avLst/>
          </a:prstGeom>
          <a:solidFill>
            <a:srgbClr val="F1F5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ico/brain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3794760"/>
            <a:ext cx="347472" cy="3474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650992" y="4032504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650992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126480" y="35021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Član 2 — Odluke, NLP i CBR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6126480" y="38496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Celine 2, 4, 6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126480" y="414223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odluka u Akoma Ntoso, NLP ekstrakcija činjenica, baza slučajeva i sličnost (kNN).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937760" y="4855464"/>
            <a:ext cx="67025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193792" y="5148072"/>
            <a:ext cx="713232" cy="713232"/>
          </a:xfrm>
          <a:prstGeom prst="ellipse">
            <a:avLst/>
          </a:prstGeom>
          <a:solidFill>
            <a:srgbClr val="F1F5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ico/gavel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5330952"/>
            <a:ext cx="347472" cy="34747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50992" y="5568696"/>
            <a:ext cx="310896" cy="310896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650992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126480" y="50383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Član 3 — Prikaz i odlučivanje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6126480" y="53858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8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Celine 7, 8, 9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126480" y="567842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 i navigacija kroz reference, kombinovano rasuđivanje nad unosom i generisanje presude.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sitemap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· TEHNIČKI STACK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Arhitektura sistema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805672" y="512064"/>
            <a:ext cx="288036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70264" y="649224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89720" y="5120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Letić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Norme i pravila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" y="196596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4241F"/>
          </a:solidFill>
          <a:ln w="12700">
            <a:solidFill>
              <a:srgbClr val="14241F"/>
            </a:solidFill>
            <a:prstDash val="solid"/>
          </a:ln>
          <a:effectLst>
            <a:outerShdw blurRad="1143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10412" y="2203704"/>
            <a:ext cx="658368" cy="658368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/cod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234086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" y="291693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Akoma Ntoso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" y="326440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zakon + 46 odluka</a:t>
            </a:r>
            <a:endParaRPr lang="en-US" sz="1030" dirty="0"/>
          </a:p>
        </p:txBody>
      </p:sp>
      <p:pic>
        <p:nvPicPr>
          <p:cNvPr id="14" name="Image 2" descr="ico/arrow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9444" y="2738628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720340" y="196596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4241F"/>
          </a:solidFill>
          <a:ln w="12700">
            <a:solidFill>
              <a:srgbClr val="14241F"/>
            </a:solidFill>
            <a:prstDash val="solid"/>
          </a:ln>
          <a:effectLst>
            <a:outerShdw blurRad="1143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3387852" y="2203704"/>
            <a:ext cx="658368" cy="658368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5012" y="234086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93492" y="291693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NLP ekstrakcija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2793492" y="326440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metapodaci + činjenice</a:t>
            </a:r>
            <a:endParaRPr lang="en-US" sz="1030" dirty="0"/>
          </a:p>
        </p:txBody>
      </p:sp>
      <p:pic>
        <p:nvPicPr>
          <p:cNvPr id="20" name="Image 4" descr="ico/arrow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884" y="2738628"/>
            <a:ext cx="237744" cy="23774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097780" y="196596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  <a:effectLst>
            <a:outerShdw blurRad="1143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765292" y="220370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ico/cogs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2452" y="2340864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70932" y="291693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Rasuđivanje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170932" y="326440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dr-device  +  CBR/kNN</a:t>
            </a:r>
            <a:endParaRPr lang="en-US" sz="1030" dirty="0"/>
          </a:p>
        </p:txBody>
      </p:sp>
      <p:pic>
        <p:nvPicPr>
          <p:cNvPr id="26" name="Image 6" descr="ico/arrow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324" y="2738628"/>
            <a:ext cx="237744" cy="23774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475220" y="196596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4241F"/>
          </a:solidFill>
          <a:ln w="12700">
            <a:solidFill>
              <a:srgbClr val="14241F"/>
            </a:solidFill>
            <a:prstDash val="solid"/>
          </a:ln>
          <a:effectLst>
            <a:outerShdw blurRad="1143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8142732" y="2203704"/>
            <a:ext cx="658368" cy="658368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7" descr="ico/gave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9892" y="2340864"/>
            <a:ext cx="384048" cy="38404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548372" y="291693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Predlog odluke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7548372" y="326440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članovi + kazna</a:t>
            </a:r>
            <a:endParaRPr lang="en-US" sz="1030" dirty="0"/>
          </a:p>
        </p:txBody>
      </p:sp>
      <p:pic>
        <p:nvPicPr>
          <p:cNvPr id="32" name="Image 8" descr="ico/arrow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764" y="2738628"/>
            <a:ext cx="237744" cy="237744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9852660" y="196596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4241F"/>
          </a:solidFill>
          <a:ln w="12700">
            <a:solidFill>
              <a:srgbClr val="14241F"/>
            </a:solidFill>
            <a:prstDash val="solid"/>
          </a:ln>
          <a:effectLst>
            <a:outerShdw blurRad="114300" dist="508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3"/>
          <p:cNvSpPr/>
          <p:nvPr/>
        </p:nvSpPr>
        <p:spPr>
          <a:xfrm>
            <a:off x="10520172" y="2203704"/>
            <a:ext cx="658368" cy="658368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9" descr="ico/magic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7332" y="2340864"/>
            <a:ext cx="384048" cy="38404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9925812" y="291693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Generisanje</a:t>
            </a:r>
            <a:endParaRPr lang="en-US" sz="1400" dirty="0"/>
          </a:p>
        </p:txBody>
      </p:sp>
      <p:sp>
        <p:nvSpPr>
          <p:cNvPr id="37" name="Text 25"/>
          <p:cNvSpPr/>
          <p:nvPr/>
        </p:nvSpPr>
        <p:spPr>
          <a:xfrm>
            <a:off x="9925812" y="326440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XML presuda</a:t>
            </a:r>
            <a:endParaRPr lang="en-US" sz="1030" dirty="0"/>
          </a:p>
        </p:txBody>
      </p:sp>
      <p:sp>
        <p:nvSpPr>
          <p:cNvPr id="38" name="Text 26"/>
          <p:cNvSpPr/>
          <p:nvPr/>
        </p:nvSpPr>
        <p:spPr>
          <a:xfrm>
            <a:off x="548640" y="393338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servis sa Thymeleaf UI; svaki korak je zaseban modul u paketu rs.ftn.pi.*</a:t>
            </a:r>
            <a:endParaRPr lang="en-US" sz="13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9353C75-16DB-2140-154D-E1EA0AE7CA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384548"/>
            <a:ext cx="12192000" cy="24734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code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1 · NORME I PRAVILA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Zakon u Akoma Ntoso (XML)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805672" y="512064"/>
            <a:ext cx="288036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70264" y="649224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89720" y="5120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Letić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Norme i pravila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1691640"/>
            <a:ext cx="4160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Krivični zakonik, Glava XXIV — Krivična dela protiv životne sredine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anotiran i sačuvan kao Akoma Ntoso XML dokument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Anotirane klasifikacione jedinice (glava, član, stav)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ka istom i drugim zakonima + entiteti (datumi, organizacije)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 učitava XML i prikazuje čist tekst — korisnik ne vidi XML</a:t>
            </a:r>
            <a:endParaRPr lang="en-US" sz="1360" dirty="0"/>
          </a:p>
        </p:txBody>
      </p:sp>
      <p:sp>
        <p:nvSpPr>
          <p:cNvPr id="10" name="Shape 7"/>
          <p:cNvSpPr/>
          <p:nvPr/>
        </p:nvSpPr>
        <p:spPr>
          <a:xfrm>
            <a:off x="1527048" y="5230368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00818" y="5266771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85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100101" y="5769691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anotiranih članova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65192" y="1709285"/>
            <a:ext cx="6803136" cy="4765311"/>
          </a:xfrm>
          <a:prstGeom prst="roundRect">
            <a:avLst>
              <a:gd name="adj" fmla="val 1151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img/pravn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73293"/>
            <a:ext cx="6675120" cy="4637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scroll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3 · PRAVNE NORME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Pravne norme u LegalRuleML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805672" y="512064"/>
            <a:ext cx="288036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70264" y="649224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89720" y="5120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Letić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Norme i pravila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169164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Podskup normi iz KZ modelovan kao pravila u LegalRuleML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 činjenica u pravilima usklađen sa činjenicama iz odluka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sr-Latn-R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400" dirty="0" err="1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efeasible</a:t>
            </a: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logika — kasnije izvršava dr-device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sr-Latn-R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</a:t>
            </a:r>
            <a:r>
              <a:rPr lang="en-US" sz="1400" dirty="0" err="1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pravila</a:t>
            </a: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 računajući negacije)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49240" y="1600200"/>
            <a:ext cx="6309360" cy="4983480"/>
          </a:xfrm>
          <a:prstGeom prst="roundRect">
            <a:avLst>
              <a:gd name="adj" fmla="val 1835"/>
            </a:avLst>
          </a:prstGeom>
          <a:solidFill>
            <a:srgbClr val="14241F"/>
          </a:solidFill>
          <a:ln/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2356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Primeri modelovanih pravila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23560" y="2286000"/>
            <a:ext cx="5760720" cy="749808"/>
          </a:xfrm>
          <a:prstGeom prst="roundRect">
            <a:avLst>
              <a:gd name="adj" fmla="val 731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88152" y="2359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čl. 260 st. 1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788152" y="259689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60" dirty="0">
                <a:solidFill>
                  <a:srgbClr val="D7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kršenje propisa ∧ (vazduh ∨ voda ∨ zemljište) ∧ (veća mera ∨ širi prostor) ⇒ violates(art_260_para_1)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5623560" y="3127248"/>
            <a:ext cx="5760720" cy="749808"/>
          </a:xfrm>
          <a:prstGeom prst="roundRect">
            <a:avLst>
              <a:gd name="adj" fmla="val 731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88152" y="3200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čl. 260 st. 4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88152" y="3438144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60" dirty="0">
                <a:solidFill>
                  <a:srgbClr val="D7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2 ∧ uništenje živ./bilj. sveta ∧ otklanjanje (duže/skupo) ⇒ violates(art_260_para_4)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5623560" y="3968496"/>
            <a:ext cx="5760720" cy="749808"/>
          </a:xfrm>
          <a:prstGeom prst="roundRect">
            <a:avLst>
              <a:gd name="adj" fmla="val 731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88152" y="4041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 · čl. 261 st. 1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788152" y="427939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60" dirty="0">
                <a:solidFill>
                  <a:srgbClr val="D7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odgovorno lice ∧ ¬preduzeo mere zaštite ⇒ violates(art_261_para_1)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5623560" y="4809744"/>
            <a:ext cx="5760720" cy="749808"/>
          </a:xfrm>
          <a:prstGeom prst="roundRect">
            <a:avLst>
              <a:gd name="adj" fmla="val 731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88152" y="4882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 · čl. 266 st. 1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788152" y="51206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60" dirty="0">
                <a:solidFill>
                  <a:srgbClr val="D7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opasne materije ∧ unos/prevoz/skladištenje ⇒ violates(art_266_para_1)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5623560" y="5650992"/>
            <a:ext cx="5760720" cy="749808"/>
          </a:xfrm>
          <a:prstGeom prst="roundRect">
            <a:avLst>
              <a:gd name="adj" fmla="val 7317"/>
            </a:avLst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788152" y="5724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A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 · čl. 273 st. 4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788152" y="596188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60" dirty="0">
                <a:solidFill>
                  <a:srgbClr val="D7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zagađenje hrane/vode za životinje ∧ nehat ⇒ violates(art_273_para_4)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cogs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5 · DR-DEVICE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Rasuđivanje po pravilima (defeasible)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805672" y="512064"/>
            <a:ext cx="288036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70264" y="649224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89720" y="5120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Letić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Norme i pravila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66928" y="17830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Ulaz: pravne činjenice iz forme / ekstrakcije</a:t>
            </a:r>
            <a:endParaRPr lang="en-US" sz="138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dr-device izvršava LegalRuleML pravila (pobojiva logika)</a:t>
            </a:r>
            <a:endParaRPr lang="en-US" sz="138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Izlaz: prekršeni članovi sa oznakom defeasibly-proven-positive</a:t>
            </a:r>
            <a:endParaRPr lang="en-US" sz="138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Predlog raspona kazne (npr. ZATVOR 6–60 meseci)</a:t>
            </a:r>
            <a:endParaRPr lang="en-US" sz="138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Olakšavajuće / otežavajuće okolnosti (npr. „otklonio štetu“)</a:t>
            </a:r>
            <a:endParaRPr lang="en-US" sz="138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svaki član prikazan je i tekst odredbe — kao obrazloženje</a:t>
            </a:r>
            <a:endParaRPr lang="en-US" sz="138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D51157-ABCC-DE40-57DA-FC4797A76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035" y="1188720"/>
            <a:ext cx="4134427" cy="5611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gavel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2 · SUDSKA PRAKSA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Sudske odluke u Akoma Ntoso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68512" y="512064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833104" y="649224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0" y="5120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Janković 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Odluke, NLP, CBR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1691640"/>
            <a:ext cx="4160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sudskih odluka iz iste oblasti (KZ čl. 260–277)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Anotirano: broj predmeta, sud, datum, pomenuti članovi, reference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Sudovi: Prekršajni apelacioni, Apelacioni, Vrhovni, Vrhovni kasacioni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ka zakonu povezuju odluke sa relevantnim članovima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Učitavanje i pregled kompletnog teksta unutar aplikacije</a:t>
            </a:r>
            <a:endParaRPr lang="en-US" sz="1360" dirty="0"/>
          </a:p>
        </p:txBody>
      </p:sp>
      <p:sp>
        <p:nvSpPr>
          <p:cNvPr id="10" name="Shape 7"/>
          <p:cNvSpPr/>
          <p:nvPr/>
        </p:nvSpPr>
        <p:spPr>
          <a:xfrm>
            <a:off x="566928" y="5212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6656" y="5285232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85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85800" y="57607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sudskih odluka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19472" y="2307097"/>
            <a:ext cx="6848856" cy="362455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img/pravn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71105"/>
            <a:ext cx="6720840" cy="3496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brain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4 · NLP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Ekstrakcija činjenica iz teksta (NLP)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68512" y="512064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833104" y="649224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0" y="5120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Janković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Odluke, NLP, CBR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" y="1884830"/>
            <a:ext cx="5413248" cy="28597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img/pravn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48838"/>
            <a:ext cx="5285232" cy="27317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91072" y="1872299"/>
            <a:ext cx="5413248" cy="2884802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img/pravn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36307"/>
            <a:ext cx="5285232" cy="2756786"/>
          </a:xfrm>
          <a:prstGeom prst="rect">
            <a:avLst/>
          </a:prstGeom>
        </p:spPr>
      </p:pic>
      <p:pic>
        <p:nvPicPr>
          <p:cNvPr id="13" name="Image 3" descr="ico/arrow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444" y="3058668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8640" y="489204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Prazna forma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355080" y="489204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8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„Popuni automatski iz teksta“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66928" y="53492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unese slobodan opis slučaja; NLP modul ga analizira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 se popunjavaju dropdowni i checkboxovi (čl. 260–277)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 primera: voda · veća mera · širi prostor · nehat · čl. 261 · čl. 266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list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4 · METAPODACI I ČINJENICE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Ekstrahovani podaci + ručno ažuriranje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68512" y="512064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833104" y="649224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0" y="5120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Janković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Odluke, NLP, CBR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173736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Metapodaci: broj predmeta, sud, datum, sudije, zapisničar, stranke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Prekršeni članovi (KZ) i pravne činjenice za rasuđivanje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Činjenice: pollutionTarget, substanceType, intent, substanceQuantityM3 …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Vrednosti su tipizirane (enum / broj / boolean)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„Ažuriraj ekstrahovane podatke“ — ručna korekcija auto-rezultata</a:t>
            </a:r>
            <a:endParaRPr lang="en-US" sz="1360" dirty="0"/>
          </a:p>
        </p:txBody>
      </p:sp>
      <p:sp>
        <p:nvSpPr>
          <p:cNvPr id="10" name="Shape 7"/>
          <p:cNvSpPr/>
          <p:nvPr/>
        </p:nvSpPr>
        <p:spPr>
          <a:xfrm>
            <a:off x="566928" y="521208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3E9CF"/>
          </a:solidFill>
          <a:ln w="12700">
            <a:solidFill>
              <a:srgbClr val="E3D2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9808" y="52852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E5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Ekstrakcija je automatizovana, ali uvek uz mogućnost </a:t>
            </a:r>
            <a:r>
              <a:rPr lang="en-US" sz="1230" dirty="0" err="1">
                <a:solidFill>
                  <a:srgbClr val="6E5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ručne</a:t>
            </a:r>
            <a:r>
              <a:rPr lang="en-US" sz="1230" dirty="0">
                <a:solidFill>
                  <a:srgbClr val="6E5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30" dirty="0" err="1">
                <a:solidFill>
                  <a:srgbClr val="6E5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ispravke</a:t>
            </a:r>
            <a:r>
              <a:rPr lang="en-US" sz="1230" dirty="0">
                <a:solidFill>
                  <a:srgbClr val="6E5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5330952" y="2585051"/>
            <a:ext cx="6391656" cy="3105219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img/pravna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649059"/>
            <a:ext cx="6263640" cy="29772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db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6 · CBR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Baza slučajeva i ključne činjenice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68512" y="512064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833104" y="649224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0" y="5120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Janković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Odluke, NLP, CBR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17373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slučaj opisan ključnim činjenicama dobijenim ekstrakcijom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traži ≥ 7 činjenica — mi koristimo 13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Atributi: prekršeni član, vrsta i dužina kazne, tip supstance,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 err="1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</a:t>
            </a: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zagađenja, šteta, namera, količina supstance …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Čuvanje u PostgreSQL; izvor: USER unos ili postojeće odluke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5212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6656" y="5285232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85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85800" y="57607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ključnih činjenica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71800" y="5212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3E9CF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081528" y="5285232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A7B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≥ 7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090672" y="57607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traženo zadatkom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30952" y="2458654"/>
            <a:ext cx="6391656" cy="3358012"/>
          </a:xfrm>
          <a:prstGeom prst="roundRect">
            <a:avLst>
              <a:gd name="adj" fmla="val 1634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img/pravn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522662"/>
            <a:ext cx="6263640" cy="32299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clone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6 · SLIČNOST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Funkcije sličnosti i kNN pretraga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68512" y="512064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833104" y="649224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0" y="5120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Janković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Odluke, NLP, CBR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62472" y="2089731"/>
            <a:ext cx="5660136" cy="3684379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img/crop_c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153739"/>
            <a:ext cx="5532120" cy="35563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182880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funkcije sličnosti po tipu atributa: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 err="1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enumeracija</a:t>
            </a: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(podudaranje), broj (razlika m³), boolean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Agregacija lokalnih u globalnu sličnost slučaja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bira najbliže slučajeve (100%, 75%, 60% …)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Ishod sličnih slučajeva = predlog kazne (pristup nalik jColibri)</a:t>
            </a:r>
            <a:endParaRPr lang="en-US" sz="1360" dirty="0"/>
          </a:p>
        </p:txBody>
      </p:sp>
      <p:sp>
        <p:nvSpPr>
          <p:cNvPr id="12" name="Shape 8"/>
          <p:cNvSpPr/>
          <p:nvPr/>
        </p:nvSpPr>
        <p:spPr>
          <a:xfrm>
            <a:off x="566928" y="521208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ico/search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486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52852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Najsličniji predmet И–564/24 (100%) → ishod 3 meseca zatvora služi kao orijentir za kaznu.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lin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7 · PRIKAZ I NAVIGACIJA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Navigacija kroz anotirane reference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531352" y="512064"/>
            <a:ext cx="315468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95944" y="649224"/>
            <a:ext cx="146304" cy="146304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15400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Čiplić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Prikaz i odlučivanje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1388" y="1581912"/>
            <a:ext cx="5143703" cy="5065776"/>
          </a:xfrm>
          <a:prstGeom prst="roundRect">
            <a:avLst>
              <a:gd name="adj" fmla="val 1083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img/pravna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96" y="1645920"/>
            <a:ext cx="5015687" cy="4937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182880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unutar teksta su klikabilne (anotirane u XML-u)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na referencu → prikaz cilja sa fokusom na traženi član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Npr. „</a:t>
            </a:r>
            <a:r>
              <a:rPr lang="en-US" sz="1400" dirty="0" err="1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člana</a:t>
            </a: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26</a:t>
            </a:r>
            <a:r>
              <a:rPr lang="sr-Latn-R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ovog zakonika“ vodi pravo na član 260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rade i unutar odluka (ka članovima zakona)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vidi formatiran tekst sa metapodacima — ne Akoma Ntoso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943600" y="5257800"/>
            <a:ext cx="5715000" cy="1051560"/>
          </a:xfrm>
          <a:prstGeom prst="roundRect">
            <a:avLst>
              <a:gd name="adj" fmla="val 8696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ico/lin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55321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53492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Član 261 je u fokusu (osenčen) jer se do njega došlo klikom na referencu iz drugog dela teksta.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flow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8 · KOMBINOVANO RASUĐIVANJE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Rasuđivanje nad korisničkim unosom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531352" y="512064"/>
            <a:ext cx="315468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95944" y="649224"/>
            <a:ext cx="146304" cy="146304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15400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Čiplić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Prikaz i odlučivanje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1737360"/>
            <a:ext cx="3977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unese opis novog slučaja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Paralelno: po pravilima (dr-device) i po slučajevima (CBR)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nudi predlog vrste i visine kazne + obrazloženje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bira vrstu kazne i dužinu, pa „Sačuvaj slučaj“</a:t>
            </a:r>
            <a:endParaRPr lang="en-US" sz="132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 slučaj ulazi u bazu (retain) i koristi se u narednim rasuđivanjima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4645152" y="1730850"/>
            <a:ext cx="7077456" cy="35334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mg/pravna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794858"/>
            <a:ext cx="6949440" cy="34054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30336" y="5285232"/>
            <a:ext cx="2707088" cy="1453896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img/pravna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344" y="5349240"/>
            <a:ext cx="2579072" cy="1325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" y="53492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i="1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Retain: „Slučaj #12 uspešno sačuvan“ — baza raste i poboljšava buduća poređenja.</a:t>
            </a:r>
            <a:endParaRPr lang="en-US" sz="12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magic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CELINA 9 · GENERISANJE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Generisanje sudske odluke (LLM)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531352" y="512064"/>
            <a:ext cx="315468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95944" y="649224"/>
            <a:ext cx="146304" cy="146304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15400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Čiplić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Prikaz i odlučivanje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174794" y="1353312"/>
            <a:ext cx="3584332" cy="5340096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img/pravna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802" y="1417320"/>
            <a:ext cx="3456316" cy="5212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1783080"/>
            <a:ext cx="7315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Ulaz: uneti opis slučaja + rezultati rasuđivanja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generiše odluku po uzoru na postojeće sudske odluke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Struktura: Uvod · Činjenično stanje · Dispozitiv · Obrazloženje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Dispozitiv: kriv po KZ čl. 261 st. 1, kazna zatvora 33 meseca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Obrazloženje poziva članove i sličan predmet (USER-6 — 33 m)</a:t>
            </a:r>
            <a:endParaRPr lang="en-US" sz="136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6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odluka se anotira, čuva kao XML i prikazuje korisniku</a:t>
            </a:r>
            <a:endParaRPr lang="en-US" sz="13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serv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 · rs.ftn.pi.*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Tok izvršavanja kroz komponente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531352" y="512064"/>
            <a:ext cx="3154680" cy="420624"/>
          </a:xfrm>
          <a:prstGeom prst="roundRect">
            <a:avLst>
              <a:gd name="adj" fmla="val 50000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95944" y="649224"/>
            <a:ext cx="146304" cy="146304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15400" y="512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Čiplić</a:t>
            </a:r>
            <a:r>
              <a:rPr lang="en-US" sz="1150" b="1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Prikaz i odlučivanje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1783080"/>
            <a:ext cx="3840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AkomaNtosoParser — učitavanje zakona i odluka iz XML-a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NlpClient — ekstrakcija (JUDGMENT / CASE_DESCRIPTION)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ReasoningService — „kombinovano rasuđivanje“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DrDeviceReasoner + CaseReasoner (kNN)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CaseController — retain u PostgreSQL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DecisionGenerator — generisanje + obrazloženje LLM-om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07992" y="2145908"/>
            <a:ext cx="7214616" cy="3572024"/>
          </a:xfrm>
          <a:prstGeom prst="roundRect">
            <a:avLst>
              <a:gd name="adj" fmla="val 1536"/>
            </a:avLst>
          </a:prstGeom>
          <a:solidFill>
            <a:srgbClr val="FFFFFF"/>
          </a:solidFill>
          <a:ln w="12700">
            <a:solidFill>
              <a:srgbClr val="DCE3D9"/>
            </a:solidFill>
            <a:prstDash val="solid"/>
          </a:ln>
          <a:effectLst>
            <a:outerShdw blurRad="152400" dist="635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img/pravn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09916"/>
            <a:ext cx="7086600" cy="34440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61722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C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realnog pokretanja: sve komponente rade zajedno u jednom toku.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8523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ico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POKRIVENOST ZADATKA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07592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4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Svih 9 celina realizovano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94944" y="1929384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944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Zakon u Akoma Ntoso (anotiran XML)</a:t>
            </a:r>
            <a:endParaRPr lang="en-US" sz="1280" dirty="0"/>
          </a:p>
        </p:txBody>
      </p:sp>
      <p:pic>
        <p:nvPicPr>
          <p:cNvPr id="10" name="Image 1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975104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2542032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94944" y="2688336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94944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70432" y="25420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sudskih odluka u Akoma Ntoso</a:t>
            </a:r>
            <a:endParaRPr lang="en-US" sz="1280" dirty="0"/>
          </a:p>
        </p:txBody>
      </p:sp>
      <p:pic>
        <p:nvPicPr>
          <p:cNvPr id="15" name="Image 2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734056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3300984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94944" y="3447288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94944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70432" y="33009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pravila u LegalRuleML</a:t>
            </a:r>
            <a:endParaRPr lang="en-US" sz="1280" dirty="0"/>
          </a:p>
        </p:txBody>
      </p:sp>
      <p:pic>
        <p:nvPicPr>
          <p:cNvPr id="20" name="Image 3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493008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8640" y="4059936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94944" y="4206240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94944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70432" y="40599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ekstrakcija + ručno ažuriranje</a:t>
            </a:r>
            <a:endParaRPr lang="en-US" sz="1280" dirty="0"/>
          </a:p>
        </p:txBody>
      </p:sp>
      <p:pic>
        <p:nvPicPr>
          <p:cNvPr id="25" name="Image 4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25196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48640" y="4818888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94944" y="4965192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94944" y="4965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70432" y="48188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Rasuđivanje po pravilima (dr-device)</a:t>
            </a:r>
            <a:endParaRPr lang="en-US" sz="1280" dirty="0"/>
          </a:p>
        </p:txBody>
      </p:sp>
      <p:pic>
        <p:nvPicPr>
          <p:cNvPr id="30" name="Image 5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010912"/>
            <a:ext cx="274320" cy="27432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263640" y="178308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409944" y="1929384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6409944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885432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slučajeva + sličnost (13 činjenica)</a:t>
            </a:r>
            <a:endParaRPr lang="en-US" sz="1280" dirty="0"/>
          </a:p>
        </p:txBody>
      </p:sp>
      <p:pic>
        <p:nvPicPr>
          <p:cNvPr id="35" name="Image 6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975104"/>
            <a:ext cx="274320" cy="27432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263640" y="2542032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6409944" y="2688336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6409944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885432" y="25420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 i navigacija kroz reference</a:t>
            </a:r>
            <a:endParaRPr lang="en-US" sz="1280" dirty="0"/>
          </a:p>
        </p:txBody>
      </p:sp>
      <p:pic>
        <p:nvPicPr>
          <p:cNvPr id="40" name="Image 7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734056"/>
            <a:ext cx="274320" cy="27432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6263640" y="3300984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6409944" y="3447288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3"/>
          <p:cNvSpPr/>
          <p:nvPr/>
        </p:nvSpPr>
        <p:spPr>
          <a:xfrm>
            <a:off x="6409944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885432" y="33009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Kombinovano rasuđivanje + čuvanje</a:t>
            </a:r>
            <a:endParaRPr lang="en-US" sz="1280" dirty="0"/>
          </a:p>
        </p:txBody>
      </p:sp>
      <p:pic>
        <p:nvPicPr>
          <p:cNvPr id="45" name="Image 8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3493008"/>
            <a:ext cx="274320" cy="274320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6263640" y="4059936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5EE"/>
          </a:solidFill>
          <a:ln w="12700">
            <a:solidFill>
              <a:srgbClr val="DCE3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6"/>
          <p:cNvSpPr/>
          <p:nvPr/>
        </p:nvSpPr>
        <p:spPr>
          <a:xfrm>
            <a:off x="6409944" y="4206240"/>
            <a:ext cx="347472" cy="347472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7"/>
          <p:cNvSpPr/>
          <p:nvPr/>
        </p:nvSpPr>
        <p:spPr>
          <a:xfrm>
            <a:off x="6409944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6885432" y="40599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Generisanje presude (LLM) → XML</a:t>
            </a:r>
            <a:endParaRPr lang="en-US" sz="1280" dirty="0"/>
          </a:p>
        </p:txBody>
      </p:sp>
      <p:pic>
        <p:nvPicPr>
          <p:cNvPr id="50" name="Image 9" descr="ico/check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4251960"/>
            <a:ext cx="274320" cy="274320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548640" y="576072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142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0"/>
          <p:cNvSpPr/>
          <p:nvPr/>
        </p:nvSpPr>
        <p:spPr>
          <a:xfrm>
            <a:off x="731520" y="5852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</a:t>
            </a:r>
            <a:endParaRPr lang="en-US" sz="3000" dirty="0"/>
          </a:p>
        </p:txBody>
      </p:sp>
      <p:sp>
        <p:nvSpPr>
          <p:cNvPr id="53" name="Text 41"/>
          <p:cNvSpPr/>
          <p:nvPr/>
        </p:nvSpPr>
        <p:spPr>
          <a:xfrm>
            <a:off x="1965960" y="57607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sudskih odluka (≥15)</a:t>
            </a:r>
            <a:endParaRPr lang="en-US" sz="1250" dirty="0"/>
          </a:p>
        </p:txBody>
      </p:sp>
      <p:sp>
        <p:nvSpPr>
          <p:cNvPr id="54" name="Shape 42"/>
          <p:cNvSpPr/>
          <p:nvPr/>
        </p:nvSpPr>
        <p:spPr>
          <a:xfrm>
            <a:off x="4251960" y="576072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142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3"/>
          <p:cNvSpPr/>
          <p:nvPr/>
        </p:nvSpPr>
        <p:spPr>
          <a:xfrm>
            <a:off x="4434840" y="5852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3000" dirty="0"/>
          </a:p>
        </p:txBody>
      </p:sp>
      <p:sp>
        <p:nvSpPr>
          <p:cNvPr id="56" name="Text 44"/>
          <p:cNvSpPr/>
          <p:nvPr/>
        </p:nvSpPr>
        <p:spPr>
          <a:xfrm>
            <a:off x="5669280" y="57607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ključnih činjenica (≥7)</a:t>
            </a:r>
            <a:endParaRPr lang="en-US" sz="1250" dirty="0"/>
          </a:p>
        </p:txBody>
      </p:sp>
      <p:sp>
        <p:nvSpPr>
          <p:cNvPr id="57" name="Shape 45"/>
          <p:cNvSpPr/>
          <p:nvPr/>
        </p:nvSpPr>
        <p:spPr>
          <a:xfrm>
            <a:off x="7955280" y="576072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1424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6"/>
          <p:cNvSpPr/>
          <p:nvPr/>
        </p:nvSpPr>
        <p:spPr>
          <a:xfrm>
            <a:off x="8138160" y="5852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r-Latn-RS" sz="3000" b="1" dirty="0">
                <a:solidFill>
                  <a:srgbClr val="C8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55</a:t>
            </a:r>
            <a:r>
              <a:rPr lang="en-US" sz="3000" b="1" dirty="0">
                <a:solidFill>
                  <a:srgbClr val="C8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3000" dirty="0"/>
          </a:p>
        </p:txBody>
      </p:sp>
      <p:sp>
        <p:nvSpPr>
          <p:cNvPr id="59" name="Text 47"/>
          <p:cNvSpPr/>
          <p:nvPr/>
        </p:nvSpPr>
        <p:spPr>
          <a:xfrm>
            <a:off x="9372600" y="57607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pravila u LegalRuleML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463040" y="914400"/>
            <a:ext cx="54864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000" dirty="0">
                <a:solidFill>
                  <a:srgbClr val="1E2A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§</a:t>
            </a:r>
            <a:endParaRPr lang="en-US" sz="43000" dirty="0"/>
          </a:p>
        </p:txBody>
      </p:sp>
      <p:sp>
        <p:nvSpPr>
          <p:cNvPr id="3" name="Shape 1"/>
          <p:cNvSpPr/>
          <p:nvPr/>
        </p:nvSpPr>
        <p:spPr>
          <a:xfrm>
            <a:off x="841248" y="1417320"/>
            <a:ext cx="868680" cy="868680"/>
          </a:xfrm>
          <a:prstGeom prst="ellipse">
            <a:avLst/>
          </a:prstGeom>
          <a:solidFill>
            <a:srgbClr val="285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/sca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6550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Hvala na pažnji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68680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za podršku odlučivanju · </a:t>
            </a:r>
            <a:r>
              <a:rPr lang="sr-Latn-RS" sz="1450" dirty="0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450" dirty="0" err="1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rivična</a:t>
            </a:r>
            <a:r>
              <a:rPr lang="en-US" sz="1450" dirty="0">
                <a:solidFill>
                  <a:srgbClr val="B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 protiv životne sredine (KZ čl. 260–277)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/scro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3675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5608" y="5257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b="1" dirty="0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Letić E2 126/2025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89704" y="5257800"/>
            <a:ext cx="457200" cy="457200"/>
          </a:xfrm>
          <a:prstGeom prst="ellipse">
            <a:avLst/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ico/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53675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56632" y="5257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</a:t>
            </a:r>
            <a:r>
              <a:rPr lang="en-US" sz="1250" b="1" dirty="0" err="1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Jankovi</a:t>
            </a:r>
            <a:r>
              <a:rPr lang="sr-Latn-RS" sz="1250" b="1" dirty="0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</a:t>
            </a:r>
            <a:r>
              <a:rPr lang="en-US" sz="1250" b="1" dirty="0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E2 130/2025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110728" y="5257800"/>
            <a:ext cx="457200" cy="457200"/>
          </a:xfrm>
          <a:prstGeom prst="ellipse">
            <a:avLst/>
          </a:prstGeom>
          <a:solidFill>
            <a:srgbClr val="1E2A24"/>
          </a:solidFill>
          <a:ln w="12700">
            <a:solidFill>
              <a:srgbClr val="3A4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ico/gave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536752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77656" y="525780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250" b="1" dirty="0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Čiplić R2 28</a:t>
            </a:r>
            <a:r>
              <a:rPr lang="en-US" sz="1250" b="1" dirty="0">
                <a:solidFill>
                  <a:srgbClr val="DC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/2025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2958</Words>
  <Application>Microsoft Office PowerPoint</Application>
  <PresentationFormat>Widescreen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Pravna informatika 2025/2026</dc:title>
  <cp:lastModifiedBy>Boris Letic</cp:lastModifiedBy>
  <cp:revision>1</cp:revision>
  <dcterms:created xsi:type="dcterms:W3CDTF">2026-06-24T02:01:09Z</dcterms:created>
  <dcterms:modified xsi:type="dcterms:W3CDTF">2026-06-24T02:40:02Z</dcterms:modified>
</cp:coreProperties>
</file>